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time I showed the first version of Tabeeby. Today is about what I added on top of it, and why each piece was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medical assistant has to be trustworthy, not just clever. These five gaps are what the new work addresses.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Plus a set of smaller improvements: smarter search, a better Telegram bot, sessions, health endpoints, and easier deployment. I'll go through each big one briefly.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skills ship today. Example: a lab result question loads the lab-results skill with reference ranges; a child with fever loads pediatric care with its warning signs. This is called progressive disclosure.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instead of writing a custom integration for every app, one standard connects everything. Claude Desktop or Cursor can call Tabeeby's doctor search directly. And Tabeeby can gain new abilities just by adding an MCP server to its config. If an external server fails, it is skipped — never crashes the agent. The right-side examples are illustrations of what can be plugged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an agent without limits can get stuck in a loop, burn money, or give up without an answer. Now it always finishes: near the end of the budget, tools are switched off so the model must write its answer. A tool that fails twice is disabled; repeated identical calls are skipped.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check fails, the failure is sent back to the model to fix. If the budget runs out first, a deterministic repair removes unverified links and adds the emergency banner. The patient never sees an unchecked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patients type area and specialty names in many spellings, in Arabic and English. Normalising them means filters actually match. And reliability isn't just the AI — the bot, sessions and model providers needed to be solid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in medicine, 'it looked fine when I tried it' isn't enough. The eval set includes the dangerous cases — emergencies, off-topic requests, and attempts to break the system prompt — and all 11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1.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1.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A3C"/>
        </a:solidFill>
      </p:bgPr>
    </p:bg>
    <p:spTree>
      <p:nvGrpSpPr>
        <p:cNvPr id="1" name=""/>
        <p:cNvGrpSpPr/>
        <p:nvPr/>
      </p:nvGrpSpPr>
      <p:grpSpPr>
        <a:xfrm>
          <a:off x="0" y="0"/>
          <a:ext cx="0" cy="0"/>
          <a:chOff x="0" y="0"/>
          <a:chExt cx="0" cy="0"/>
        </a:xfrm>
      </p:grpSpPr>
      <p:sp>
        <p:nvSpPr>
          <p:cNvPr id="2" name="Shape 0"/>
          <p:cNvSpPr/>
          <p:nvPr/>
        </p:nvSpPr>
        <p:spPr>
          <a:xfrm>
            <a:off x="4160520" y="411480"/>
            <a:ext cx="822960" cy="822960"/>
          </a:xfrm>
          <a:prstGeom prst="ellipse">
            <a:avLst/>
          </a:prstGeom>
          <a:solidFill>
            <a:srgbClr val="137C86"/>
          </a:solidFill>
          <a:ln w="12700">
            <a:solidFill>
              <a:srgbClr val="137C86"/>
            </a:solidFill>
            <a:prstDash val="solid"/>
          </a:ln>
        </p:spPr>
      </p:sp>
      <p:pic>
        <p:nvPicPr>
          <p:cNvPr id="3" name="Image 0" descr="preencoded.png">    </p:cNvPr>
          <p:cNvPicPr>
            <a:picLocks noChangeAspect="1"/>
          </p:cNvPicPr>
          <p:nvPr/>
        </p:nvPicPr>
        <p:blipFill>
          <a:blip r:embed="rId1"/>
          <a:stretch>
            <a:fillRect/>
          </a:stretch>
        </p:blipFill>
        <p:spPr>
          <a:xfrm>
            <a:off x="4366260" y="617220"/>
            <a:ext cx="411480" cy="411480"/>
          </a:xfrm>
          <a:prstGeom prst="rect">
            <a:avLst/>
          </a:prstGeom>
        </p:spPr>
      </p:pic>
      <p:sp>
        <p:nvSpPr>
          <p:cNvPr id="4" name="Text 1"/>
          <p:cNvSpPr txBox="1"/>
          <p:nvPr/>
        </p:nvSpPr>
        <p:spPr>
          <a:xfrm>
            <a:off x="914400" y="1371600"/>
            <a:ext cx="7315200" cy="640080"/>
          </a:xfrm>
          <a:prstGeom prst="rect">
            <a:avLst/>
          </a:prstGeom>
          <a:noFill/>
          <a:ln/>
        </p:spPr>
        <p:txBody>
          <a:bodyPr wrap="square"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Tabeeby</a:t>
            </a:r>
            <a:endParaRPr lang="en-US" sz="4400" dirty="0"/>
          </a:p>
        </p:txBody>
      </p:sp>
      <p:sp>
        <p:nvSpPr>
          <p:cNvPr id="5" name="Text 2"/>
          <p:cNvSpPr txBox="1"/>
          <p:nvPr/>
        </p:nvSpPr>
        <p:spPr>
          <a:xfrm>
            <a:off x="914400" y="2011680"/>
            <a:ext cx="7315200" cy="411480"/>
          </a:xfrm>
          <a:prstGeom prst="rect">
            <a:avLst/>
          </a:prstGeom>
          <a:noFill/>
          <a:ln/>
        </p:spPr>
        <p:txBody>
          <a:bodyPr wrap="square" rtlCol="0" anchor="ctr"/>
          <a:lstStyle/>
          <a:p>
            <a:pPr algn="ctr" indent="0" marL="0">
              <a:buNone/>
            </a:pPr>
            <a:r>
              <a:rPr lang="en-US" sz="1800" dirty="0">
                <a:solidFill>
                  <a:srgbClr val="1BBF9C"/>
                </a:solidFill>
                <a:latin typeface="Calibri" pitchFamily="34" charset="0"/>
                <a:ea typeface="Calibri" pitchFamily="34" charset="-122"/>
                <a:cs typeface="Calibri" pitchFamily="34" charset="-120"/>
              </a:rPr>
              <a:t>What's New: From a Chatbot to a Reliable Agent</a:t>
            </a:r>
            <a:endParaRPr lang="en-US" sz="1800" dirty="0"/>
          </a:p>
        </p:txBody>
      </p:sp>
      <p:sp>
        <p:nvSpPr>
          <p:cNvPr id="6" name="Text 3"/>
          <p:cNvSpPr txBox="1"/>
          <p:nvPr/>
        </p:nvSpPr>
        <p:spPr>
          <a:xfrm>
            <a:off x="914400" y="2468880"/>
            <a:ext cx="7315200" cy="320040"/>
          </a:xfrm>
          <a:prstGeom prst="rect">
            <a:avLst/>
          </a:prstGeom>
          <a:noFill/>
          <a:ln/>
        </p:spPr>
        <p:txBody>
          <a:bodyPr wrap="square" rtlCol="0" anchor="ctr"/>
          <a:lstStyle/>
          <a:p>
            <a:pPr algn="ctr" indent="0" marL="0">
              <a:buNone/>
            </a:pPr>
            <a:r>
              <a:rPr lang="en-US" sz="1300" dirty="0">
                <a:solidFill>
                  <a:srgbClr val="C9D6DD"/>
                </a:solidFill>
                <a:latin typeface="Calibri" pitchFamily="34" charset="0"/>
                <a:ea typeface="Calibri" pitchFamily="34" charset="-122"/>
                <a:cs typeface="Calibri" pitchFamily="34" charset="-120"/>
              </a:rPr>
              <a:t>Skills  ·  MCP  ·  Reliable Goal Loop  ·  Evaluation</a:t>
            </a:r>
            <a:endParaRPr lang="en-US" sz="1300" dirty="0"/>
          </a:p>
        </p:txBody>
      </p:sp>
      <p:sp>
        <p:nvSpPr>
          <p:cNvPr id="7" name="Text 4"/>
          <p:cNvSpPr txBox="1"/>
          <p:nvPr/>
        </p:nvSpPr>
        <p:spPr>
          <a:xfrm>
            <a:off x="914400" y="3246120"/>
            <a:ext cx="7315200" cy="228600"/>
          </a:xfrm>
          <a:prstGeom prst="rect">
            <a:avLst/>
          </a:prstGeom>
          <a:noFill/>
          <a:ln/>
        </p:spPr>
        <p:txBody>
          <a:bodyPr wrap="square" rtlCol="0" anchor="ctr"/>
          <a:lstStyle/>
          <a:p>
            <a:pPr algn="ctr" indent="0" marL="0">
              <a:buNone/>
            </a:pPr>
            <a:r>
              <a:rPr lang="en-US" sz="1000" dirty="0">
                <a:solidFill>
                  <a:srgbClr val="8FA3AE"/>
                </a:solidFill>
                <a:latin typeface="Calibri" pitchFamily="34" charset="0"/>
                <a:ea typeface="Calibri" pitchFamily="34" charset="-122"/>
                <a:cs typeface="Calibri" pitchFamily="34" charset="-120"/>
              </a:rPr>
              <a:t>Presented by</a:t>
            </a:r>
            <a:endParaRPr lang="en-US" sz="1000" dirty="0"/>
          </a:p>
        </p:txBody>
      </p:sp>
      <p:sp>
        <p:nvSpPr>
          <p:cNvPr id="8" name="Text 5"/>
          <p:cNvSpPr txBox="1"/>
          <p:nvPr/>
        </p:nvSpPr>
        <p:spPr>
          <a:xfrm>
            <a:off x="914400" y="3474720"/>
            <a:ext cx="7315200" cy="36576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Amr Ahmed Walid</a:t>
            </a:r>
            <a:endParaRPr lang="en-US" sz="1800" dirty="0"/>
          </a:p>
        </p:txBody>
      </p:sp>
      <p:sp>
        <p:nvSpPr>
          <p:cNvPr id="9" name="Text 6"/>
          <p:cNvSpPr txBox="1"/>
          <p:nvPr/>
        </p:nvSpPr>
        <p:spPr>
          <a:xfrm>
            <a:off x="914400" y="4297680"/>
            <a:ext cx="7315200" cy="274320"/>
          </a:xfrm>
          <a:prstGeom prst="rect">
            <a:avLst/>
          </a:prstGeom>
          <a:noFill/>
          <a:ln/>
        </p:spPr>
        <p:txBody>
          <a:bodyPr wrap="square" rtlCol="0" anchor="ctr"/>
          <a:lstStyle/>
          <a:p>
            <a:pPr algn="ctr" indent="0" marL="0">
              <a:buNone/>
            </a:pPr>
            <a:r>
              <a:rPr lang="en-US" sz="1100" i="1" dirty="0">
                <a:solidFill>
                  <a:srgbClr val="C9D6DD"/>
                </a:solidFill>
                <a:latin typeface="Calibri" pitchFamily="34" charset="0"/>
                <a:ea typeface="Calibri" pitchFamily="34" charset="-122"/>
                <a:cs typeface="Calibri" pitchFamily="34" charset="-120"/>
              </a:rPr>
              <a:t>Submitted to Ayman Hamed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000" b="1" spc="100" kern="0" dirty="0">
                <a:solidFill>
                  <a:srgbClr val="137C86"/>
                </a:solidFill>
                <a:latin typeface="Calibri" pitchFamily="34" charset="0"/>
                <a:ea typeface="Calibri" pitchFamily="34" charset="-122"/>
                <a:cs typeface="Calibri" pitchFamily="34" charset="-120"/>
              </a:rPr>
              <a:t>WHERE WE STARTED</a:t>
            </a:r>
            <a:endParaRPr lang="en-US" sz="1000" dirty="0"/>
          </a:p>
        </p:txBody>
      </p:sp>
      <p:sp>
        <p:nvSpPr>
          <p:cNvPr id="3" name="Text 1"/>
          <p:cNvSpPr txBox="1"/>
          <p:nvPr/>
        </p:nvSpPr>
        <p:spPr>
          <a:xfrm>
            <a:off x="457200" y="530352"/>
            <a:ext cx="8229600" cy="457200"/>
          </a:xfrm>
          <a:prstGeom prst="rect">
            <a:avLst/>
          </a:prstGeom>
          <a:noFill/>
          <a:ln/>
        </p:spPr>
        <p:txBody>
          <a:bodyPr wrap="square" lIns="0" tIns="0" rIns="0" bIns="0" rtlCol="0" anchor="ctr"/>
          <a:lstStyle/>
          <a:p>
            <a:pPr indent="0" marL="0">
              <a:buNone/>
            </a:pPr>
            <a:r>
              <a:rPr lang="en-US" sz="2600" b="1" dirty="0">
                <a:solidFill>
                  <a:srgbClr val="1B2B36"/>
                </a:solidFill>
                <a:latin typeface="Cambria" pitchFamily="34" charset="0"/>
                <a:ea typeface="Cambria" pitchFamily="34" charset="-122"/>
                <a:cs typeface="Cambria" pitchFamily="34" charset="-120"/>
              </a:rPr>
              <a:t>Version 1 worked — but it wasn't dependable yet</a:t>
            </a:r>
            <a:endParaRPr lang="en-US" sz="2600" dirty="0"/>
          </a:p>
        </p:txBody>
      </p:sp>
      <p:sp>
        <p:nvSpPr>
          <p:cNvPr id="4" name="Text 2"/>
          <p:cNvSpPr txBox="1"/>
          <p:nvPr/>
        </p:nvSpPr>
        <p:spPr>
          <a:xfrm>
            <a:off x="457200" y="1051560"/>
            <a:ext cx="8229600" cy="457200"/>
          </a:xfrm>
          <a:prstGeom prst="rect">
            <a:avLst/>
          </a:prstGeom>
          <a:noFill/>
          <a:ln/>
        </p:spPr>
        <p:txBody>
          <a:bodyPr wrap="square" lIns="0" tIns="0" rIns="0" bIns="0" rtlCol="0" anchor="ctr"/>
          <a:lstStyle/>
          <a:p>
            <a:pPr indent="0" marL="0">
              <a:buNone/>
            </a:pPr>
            <a:r>
              <a:rPr lang="en-US" sz="1300" dirty="0">
                <a:solidFill>
                  <a:srgbClr val="5B6B75"/>
                </a:solidFill>
                <a:latin typeface="Calibri" pitchFamily="34" charset="0"/>
                <a:ea typeface="Calibri" pitchFamily="34" charset="-122"/>
                <a:cs typeface="Calibri" pitchFamily="34" charset="-120"/>
              </a:rPr>
              <a:t>The first Tabeeby could understand symptoms and find doctors with a simple ReAct loop and two tools. Building on it exposed five gaps:</a:t>
            </a:r>
            <a:endParaRPr lang="en-US" sz="1300" dirty="0"/>
          </a:p>
        </p:txBody>
      </p:sp>
      <p:sp>
        <p:nvSpPr>
          <p:cNvPr id="5" name="Shape 3"/>
          <p:cNvSpPr/>
          <p:nvPr/>
        </p:nvSpPr>
        <p:spPr>
          <a:xfrm>
            <a:off x="457200" y="1874520"/>
            <a:ext cx="1517904" cy="2240280"/>
          </a:xfrm>
          <a:prstGeom prst="roundRect">
            <a:avLst>
              <a:gd name="adj" fmla="val 4819"/>
            </a:avLst>
          </a:prstGeom>
          <a:solidFill>
            <a:srgbClr val="EEF4F6"/>
          </a:solidFill>
          <a:ln w="12700">
            <a:solidFill>
              <a:srgbClr val="EEF4F6"/>
            </a:solidFill>
            <a:prstDash val="solid"/>
          </a:ln>
        </p:spPr>
      </p:sp>
      <p:sp>
        <p:nvSpPr>
          <p:cNvPr id="6" name="Shape 4"/>
          <p:cNvSpPr/>
          <p:nvPr/>
        </p:nvSpPr>
        <p:spPr>
          <a:xfrm>
            <a:off x="941832" y="2103120"/>
            <a:ext cx="548640" cy="548640"/>
          </a:xfrm>
          <a:prstGeom prst="ellipse">
            <a:avLst/>
          </a:prstGeom>
          <a:solidFill>
            <a:srgbClr val="F7E3E1"/>
          </a:solidFill>
          <a:ln w="12700">
            <a:solidFill>
              <a:srgbClr val="F7E3E1"/>
            </a:solidFill>
            <a:prstDash val="solid"/>
          </a:ln>
        </p:spPr>
      </p:sp>
      <p:pic>
        <p:nvPicPr>
          <p:cNvPr id="7" name="Image 0" descr="preencoded.png">    </p:cNvPr>
          <p:cNvPicPr>
            <a:picLocks noChangeAspect="1"/>
          </p:cNvPicPr>
          <p:nvPr/>
        </p:nvPicPr>
        <p:blipFill>
          <a:blip r:embed="rId1"/>
          <a:stretch>
            <a:fillRect/>
          </a:stretch>
        </p:blipFill>
        <p:spPr>
          <a:xfrm>
            <a:off x="1078992" y="2240280"/>
            <a:ext cx="274320" cy="274320"/>
          </a:xfrm>
          <a:prstGeom prst="rect">
            <a:avLst/>
          </a:prstGeom>
        </p:spPr>
      </p:pic>
      <p:sp>
        <p:nvSpPr>
          <p:cNvPr id="8" name="Text 5"/>
          <p:cNvSpPr txBox="1"/>
          <p:nvPr/>
        </p:nvSpPr>
        <p:spPr>
          <a:xfrm>
            <a:off x="548640" y="2788920"/>
            <a:ext cx="1335024" cy="502920"/>
          </a:xfrm>
          <a:prstGeom prst="rect">
            <a:avLst/>
          </a:prstGeom>
          <a:noFill/>
          <a:ln/>
        </p:spPr>
        <p:txBody>
          <a:bodyPr wrap="square" lIns="0" tIns="0" rIns="0" bIns="0" rtlCol="0" anchor="t"/>
          <a:lstStyle/>
          <a:p>
            <a:pPr algn="ctr" indent="0" marL="0">
              <a:buNone/>
            </a:pPr>
            <a:r>
              <a:rPr lang="en-US" sz="1300" b="1" dirty="0">
                <a:solidFill>
                  <a:srgbClr val="1B2B36"/>
                </a:solidFill>
                <a:latin typeface="Calibri" pitchFamily="34" charset="0"/>
                <a:ea typeface="Calibri" pitchFamily="34" charset="-122"/>
                <a:cs typeface="Calibri" pitchFamily="34" charset="-120"/>
              </a:rPr>
              <a:t>Could loop or overspend</a:t>
            </a:r>
            <a:endParaRPr lang="en-US" sz="1300" dirty="0"/>
          </a:p>
        </p:txBody>
      </p:sp>
      <p:sp>
        <p:nvSpPr>
          <p:cNvPr id="9" name="Text 6"/>
          <p:cNvSpPr txBox="1"/>
          <p:nvPr/>
        </p:nvSpPr>
        <p:spPr>
          <a:xfrm>
            <a:off x="566928" y="3337560"/>
            <a:ext cx="1298448" cy="1005840"/>
          </a:xfrm>
          <a:prstGeom prst="rect">
            <a:avLst/>
          </a:prstGeom>
          <a:noFill/>
          <a:ln/>
        </p:spPr>
        <p:txBody>
          <a:bodyPr wrap="square" lIns="0" tIns="0" rIns="0" bIns="0" rtlCol="0" anchor="t"/>
          <a:lstStyle/>
          <a:p>
            <a:pPr algn="ctr" indent="0" marL="0">
              <a:buNone/>
            </a:pPr>
            <a:r>
              <a:rPr lang="en-US" sz="1100" dirty="0">
                <a:solidFill>
                  <a:srgbClr val="5B6B75"/>
                </a:solidFill>
                <a:latin typeface="Calibri" pitchFamily="34" charset="0"/>
                <a:ea typeface="Calibri" pitchFamily="34" charset="-122"/>
                <a:cs typeface="Calibri" pitchFamily="34" charset="-120"/>
              </a:rPr>
              <a:t>No limit on steps, time, or cost per message.</a:t>
            </a:r>
            <a:endParaRPr lang="en-US" sz="1100" dirty="0"/>
          </a:p>
        </p:txBody>
      </p:sp>
      <p:sp>
        <p:nvSpPr>
          <p:cNvPr id="10" name="Shape 7"/>
          <p:cNvSpPr/>
          <p:nvPr/>
        </p:nvSpPr>
        <p:spPr>
          <a:xfrm>
            <a:off x="2130552" y="1874520"/>
            <a:ext cx="1517904" cy="2240280"/>
          </a:xfrm>
          <a:prstGeom prst="roundRect">
            <a:avLst>
              <a:gd name="adj" fmla="val 4819"/>
            </a:avLst>
          </a:prstGeom>
          <a:solidFill>
            <a:srgbClr val="EEF4F6"/>
          </a:solidFill>
          <a:ln w="12700">
            <a:solidFill>
              <a:srgbClr val="EEF4F6"/>
            </a:solidFill>
            <a:prstDash val="solid"/>
          </a:ln>
        </p:spPr>
      </p:sp>
      <p:sp>
        <p:nvSpPr>
          <p:cNvPr id="11" name="Shape 8"/>
          <p:cNvSpPr/>
          <p:nvPr/>
        </p:nvSpPr>
        <p:spPr>
          <a:xfrm>
            <a:off x="2615184" y="2103120"/>
            <a:ext cx="548640" cy="548640"/>
          </a:xfrm>
          <a:prstGeom prst="ellipse">
            <a:avLst/>
          </a:prstGeom>
          <a:solidFill>
            <a:srgbClr val="F7E3E1"/>
          </a:solidFill>
          <a:ln w="12700">
            <a:solidFill>
              <a:srgbClr val="F7E3E1"/>
            </a:solidFill>
            <a:prstDash val="solid"/>
          </a:ln>
        </p:spPr>
      </p:sp>
      <p:pic>
        <p:nvPicPr>
          <p:cNvPr id="12" name="Image 1" descr="preencoded.png">    </p:cNvPr>
          <p:cNvPicPr>
            <a:picLocks noChangeAspect="1"/>
          </p:cNvPicPr>
          <p:nvPr/>
        </p:nvPicPr>
        <p:blipFill>
          <a:blip r:embed="rId2"/>
          <a:stretch>
            <a:fillRect/>
          </a:stretch>
        </p:blipFill>
        <p:spPr>
          <a:xfrm>
            <a:off x="2752344" y="2240280"/>
            <a:ext cx="274320" cy="274320"/>
          </a:xfrm>
          <a:prstGeom prst="rect">
            <a:avLst/>
          </a:prstGeom>
        </p:spPr>
      </p:pic>
      <p:sp>
        <p:nvSpPr>
          <p:cNvPr id="13" name="Text 9"/>
          <p:cNvSpPr txBox="1"/>
          <p:nvPr/>
        </p:nvSpPr>
        <p:spPr>
          <a:xfrm>
            <a:off x="2221992" y="2788920"/>
            <a:ext cx="1335024" cy="502920"/>
          </a:xfrm>
          <a:prstGeom prst="rect">
            <a:avLst/>
          </a:prstGeom>
          <a:noFill/>
          <a:ln/>
        </p:spPr>
        <p:txBody>
          <a:bodyPr wrap="square" lIns="0" tIns="0" rIns="0" bIns="0" rtlCol="0" anchor="t"/>
          <a:lstStyle/>
          <a:p>
            <a:pPr algn="ctr" indent="0" marL="0">
              <a:buNone/>
            </a:pPr>
            <a:r>
              <a:rPr lang="en-US" sz="1300" b="1" dirty="0">
                <a:solidFill>
                  <a:srgbClr val="1B2B36"/>
                </a:solidFill>
                <a:latin typeface="Calibri" pitchFamily="34" charset="0"/>
                <a:ea typeface="Calibri" pitchFamily="34" charset="-122"/>
                <a:cs typeface="Calibri" pitchFamily="34" charset="-120"/>
              </a:rPr>
              <a:t>Could invent links</a:t>
            </a:r>
            <a:endParaRPr lang="en-US" sz="1300" dirty="0"/>
          </a:p>
        </p:txBody>
      </p:sp>
      <p:sp>
        <p:nvSpPr>
          <p:cNvPr id="14" name="Text 10"/>
          <p:cNvSpPr txBox="1"/>
          <p:nvPr/>
        </p:nvSpPr>
        <p:spPr>
          <a:xfrm>
            <a:off x="2240280" y="3337560"/>
            <a:ext cx="1298448" cy="1005840"/>
          </a:xfrm>
          <a:prstGeom prst="rect">
            <a:avLst/>
          </a:prstGeom>
          <a:noFill/>
          <a:ln/>
        </p:spPr>
        <p:txBody>
          <a:bodyPr wrap="square" lIns="0" tIns="0" rIns="0" bIns="0" rtlCol="0" anchor="t"/>
          <a:lstStyle/>
          <a:p>
            <a:pPr algn="ctr" indent="0" marL="0">
              <a:buNone/>
            </a:pPr>
            <a:r>
              <a:rPr lang="en-US" sz="1100" dirty="0">
                <a:solidFill>
                  <a:srgbClr val="5B6B75"/>
                </a:solidFill>
                <a:latin typeface="Calibri" pitchFamily="34" charset="0"/>
                <a:ea typeface="Calibri" pitchFamily="34" charset="-122"/>
                <a:cs typeface="Calibri" pitchFamily="34" charset="-120"/>
              </a:rPr>
              <a:t>Nothing checked the answer before it reached the patient.</a:t>
            </a:r>
            <a:endParaRPr lang="en-US" sz="1100" dirty="0"/>
          </a:p>
        </p:txBody>
      </p:sp>
      <p:sp>
        <p:nvSpPr>
          <p:cNvPr id="15" name="Shape 11"/>
          <p:cNvSpPr/>
          <p:nvPr/>
        </p:nvSpPr>
        <p:spPr>
          <a:xfrm>
            <a:off x="3803904" y="1874520"/>
            <a:ext cx="1517904" cy="2240280"/>
          </a:xfrm>
          <a:prstGeom prst="roundRect">
            <a:avLst>
              <a:gd name="adj" fmla="val 4819"/>
            </a:avLst>
          </a:prstGeom>
          <a:solidFill>
            <a:srgbClr val="EEF4F6"/>
          </a:solidFill>
          <a:ln w="12700">
            <a:solidFill>
              <a:srgbClr val="EEF4F6"/>
            </a:solidFill>
            <a:prstDash val="solid"/>
          </a:ln>
        </p:spPr>
      </p:sp>
      <p:sp>
        <p:nvSpPr>
          <p:cNvPr id="16" name="Shape 12"/>
          <p:cNvSpPr/>
          <p:nvPr/>
        </p:nvSpPr>
        <p:spPr>
          <a:xfrm>
            <a:off x="4288536" y="2103120"/>
            <a:ext cx="548640" cy="548640"/>
          </a:xfrm>
          <a:prstGeom prst="ellipse">
            <a:avLst/>
          </a:prstGeom>
          <a:solidFill>
            <a:srgbClr val="F7E3E1"/>
          </a:solidFill>
          <a:ln w="12700">
            <a:solidFill>
              <a:srgbClr val="F7E3E1"/>
            </a:solidFill>
            <a:prstDash val="solid"/>
          </a:ln>
        </p:spPr>
      </p:sp>
      <p:pic>
        <p:nvPicPr>
          <p:cNvPr id="17" name="Image 2" descr="preencoded.png">    </p:cNvPr>
          <p:cNvPicPr>
            <a:picLocks noChangeAspect="1"/>
          </p:cNvPicPr>
          <p:nvPr/>
        </p:nvPicPr>
        <p:blipFill>
          <a:blip r:embed="rId3"/>
          <a:stretch>
            <a:fillRect/>
          </a:stretch>
        </p:blipFill>
        <p:spPr>
          <a:xfrm>
            <a:off x="4425696" y="2240280"/>
            <a:ext cx="274320" cy="274320"/>
          </a:xfrm>
          <a:prstGeom prst="rect">
            <a:avLst/>
          </a:prstGeom>
        </p:spPr>
      </p:pic>
      <p:sp>
        <p:nvSpPr>
          <p:cNvPr id="18" name="Text 13"/>
          <p:cNvSpPr txBox="1"/>
          <p:nvPr/>
        </p:nvSpPr>
        <p:spPr>
          <a:xfrm>
            <a:off x="3895344" y="2788920"/>
            <a:ext cx="1335024" cy="502920"/>
          </a:xfrm>
          <a:prstGeom prst="rect">
            <a:avLst/>
          </a:prstGeom>
          <a:noFill/>
          <a:ln/>
        </p:spPr>
        <p:txBody>
          <a:bodyPr wrap="square" lIns="0" tIns="0" rIns="0" bIns="0" rtlCol="0" anchor="t"/>
          <a:lstStyle/>
          <a:p>
            <a:pPr algn="ctr" indent="0" marL="0">
              <a:buNone/>
            </a:pPr>
            <a:r>
              <a:rPr lang="en-US" sz="1300" b="1" dirty="0">
                <a:solidFill>
                  <a:srgbClr val="1B2B36"/>
                </a:solidFill>
                <a:latin typeface="Calibri" pitchFamily="34" charset="0"/>
                <a:ea typeface="Calibri" pitchFamily="34" charset="-122"/>
                <a:cs typeface="Calibri" pitchFamily="34" charset="-120"/>
              </a:rPr>
              <a:t>One giant prompt</a:t>
            </a:r>
            <a:endParaRPr lang="en-US" sz="1300" dirty="0"/>
          </a:p>
        </p:txBody>
      </p:sp>
      <p:sp>
        <p:nvSpPr>
          <p:cNvPr id="19" name="Text 14"/>
          <p:cNvSpPr txBox="1"/>
          <p:nvPr/>
        </p:nvSpPr>
        <p:spPr>
          <a:xfrm>
            <a:off x="3913632" y="3337560"/>
            <a:ext cx="1298448" cy="1005840"/>
          </a:xfrm>
          <a:prstGeom prst="rect">
            <a:avLst/>
          </a:prstGeom>
          <a:noFill/>
          <a:ln/>
        </p:spPr>
        <p:txBody>
          <a:bodyPr wrap="square" lIns="0" tIns="0" rIns="0" bIns="0" rtlCol="0" anchor="t"/>
          <a:lstStyle/>
          <a:p>
            <a:pPr algn="ctr" indent="0" marL="0">
              <a:buNone/>
            </a:pPr>
            <a:r>
              <a:rPr lang="en-US" sz="1100" dirty="0">
                <a:solidFill>
                  <a:srgbClr val="5B6B75"/>
                </a:solidFill>
                <a:latin typeface="Calibri" pitchFamily="34" charset="0"/>
                <a:ea typeface="Calibri" pitchFamily="34" charset="-122"/>
                <a:cs typeface="Calibri" pitchFamily="34" charset="-120"/>
              </a:rPr>
              <a:t>All medical know-how crammed into the system prompt.</a:t>
            </a:r>
            <a:endParaRPr lang="en-US" sz="1100" dirty="0"/>
          </a:p>
        </p:txBody>
      </p:sp>
      <p:sp>
        <p:nvSpPr>
          <p:cNvPr id="20" name="Shape 15"/>
          <p:cNvSpPr/>
          <p:nvPr/>
        </p:nvSpPr>
        <p:spPr>
          <a:xfrm>
            <a:off x="5477256" y="1874520"/>
            <a:ext cx="1517904" cy="2240280"/>
          </a:xfrm>
          <a:prstGeom prst="roundRect">
            <a:avLst>
              <a:gd name="adj" fmla="val 4819"/>
            </a:avLst>
          </a:prstGeom>
          <a:solidFill>
            <a:srgbClr val="EEF4F6"/>
          </a:solidFill>
          <a:ln w="12700">
            <a:solidFill>
              <a:srgbClr val="EEF4F6"/>
            </a:solidFill>
            <a:prstDash val="solid"/>
          </a:ln>
        </p:spPr>
      </p:sp>
      <p:sp>
        <p:nvSpPr>
          <p:cNvPr id="21" name="Shape 16"/>
          <p:cNvSpPr/>
          <p:nvPr/>
        </p:nvSpPr>
        <p:spPr>
          <a:xfrm>
            <a:off x="5961888" y="2103120"/>
            <a:ext cx="548640" cy="548640"/>
          </a:xfrm>
          <a:prstGeom prst="ellipse">
            <a:avLst/>
          </a:prstGeom>
          <a:solidFill>
            <a:srgbClr val="F7E3E1"/>
          </a:solidFill>
          <a:ln w="12700">
            <a:solidFill>
              <a:srgbClr val="F7E3E1"/>
            </a:solidFill>
            <a:prstDash val="solid"/>
          </a:ln>
        </p:spPr>
      </p:sp>
      <p:pic>
        <p:nvPicPr>
          <p:cNvPr id="22" name="Image 3" descr="preencoded.png">    </p:cNvPr>
          <p:cNvPicPr>
            <a:picLocks noChangeAspect="1"/>
          </p:cNvPicPr>
          <p:nvPr/>
        </p:nvPicPr>
        <p:blipFill>
          <a:blip r:embed="rId4"/>
          <a:stretch>
            <a:fillRect/>
          </a:stretch>
        </p:blipFill>
        <p:spPr>
          <a:xfrm>
            <a:off x="6099048" y="2240280"/>
            <a:ext cx="274320" cy="274320"/>
          </a:xfrm>
          <a:prstGeom prst="rect">
            <a:avLst/>
          </a:prstGeom>
        </p:spPr>
      </p:pic>
      <p:sp>
        <p:nvSpPr>
          <p:cNvPr id="23" name="Text 17"/>
          <p:cNvSpPr txBox="1"/>
          <p:nvPr/>
        </p:nvSpPr>
        <p:spPr>
          <a:xfrm>
            <a:off x="5568696" y="2788920"/>
            <a:ext cx="1335024" cy="502920"/>
          </a:xfrm>
          <a:prstGeom prst="rect">
            <a:avLst/>
          </a:prstGeom>
          <a:noFill/>
          <a:ln/>
        </p:spPr>
        <p:txBody>
          <a:bodyPr wrap="square" lIns="0" tIns="0" rIns="0" bIns="0" rtlCol="0" anchor="t"/>
          <a:lstStyle/>
          <a:p>
            <a:pPr algn="ctr" indent="0" marL="0">
              <a:buNone/>
            </a:pPr>
            <a:r>
              <a:rPr lang="en-US" sz="1300" b="1" dirty="0">
                <a:solidFill>
                  <a:srgbClr val="1B2B36"/>
                </a:solidFill>
                <a:latin typeface="Calibri" pitchFamily="34" charset="0"/>
                <a:ea typeface="Calibri" pitchFamily="34" charset="-122"/>
                <a:cs typeface="Calibri" pitchFamily="34" charset="-120"/>
              </a:rPr>
              <a:t>Closed box</a:t>
            </a:r>
            <a:endParaRPr lang="en-US" sz="1300" dirty="0"/>
          </a:p>
        </p:txBody>
      </p:sp>
      <p:sp>
        <p:nvSpPr>
          <p:cNvPr id="24" name="Text 18"/>
          <p:cNvSpPr txBox="1"/>
          <p:nvPr/>
        </p:nvSpPr>
        <p:spPr>
          <a:xfrm>
            <a:off x="5586984" y="3337560"/>
            <a:ext cx="1298448" cy="1005840"/>
          </a:xfrm>
          <a:prstGeom prst="rect">
            <a:avLst/>
          </a:prstGeom>
          <a:noFill/>
          <a:ln/>
        </p:spPr>
        <p:txBody>
          <a:bodyPr wrap="square" lIns="0" tIns="0" rIns="0" bIns="0" rtlCol="0" anchor="t"/>
          <a:lstStyle/>
          <a:p>
            <a:pPr algn="ctr" indent="0" marL="0">
              <a:buNone/>
            </a:pPr>
            <a:r>
              <a:rPr lang="en-US" sz="1100" dirty="0">
                <a:solidFill>
                  <a:srgbClr val="5B6B75"/>
                </a:solidFill>
                <a:latin typeface="Calibri" pitchFamily="34" charset="0"/>
                <a:ea typeface="Calibri" pitchFamily="34" charset="-122"/>
                <a:cs typeface="Calibri" pitchFamily="34" charset="-120"/>
              </a:rPr>
              <a:t>Other AI apps couldn't use Tabeeby, and it couldn't use theirs.</a:t>
            </a:r>
            <a:endParaRPr lang="en-US" sz="1100" dirty="0"/>
          </a:p>
        </p:txBody>
      </p:sp>
      <p:sp>
        <p:nvSpPr>
          <p:cNvPr id="25" name="Shape 19"/>
          <p:cNvSpPr/>
          <p:nvPr/>
        </p:nvSpPr>
        <p:spPr>
          <a:xfrm>
            <a:off x="7150608" y="1874520"/>
            <a:ext cx="1517904" cy="2240280"/>
          </a:xfrm>
          <a:prstGeom prst="roundRect">
            <a:avLst>
              <a:gd name="adj" fmla="val 4819"/>
            </a:avLst>
          </a:prstGeom>
          <a:solidFill>
            <a:srgbClr val="EEF4F6"/>
          </a:solidFill>
          <a:ln w="12700">
            <a:solidFill>
              <a:srgbClr val="EEF4F6"/>
            </a:solidFill>
            <a:prstDash val="solid"/>
          </a:ln>
        </p:spPr>
      </p:sp>
      <p:sp>
        <p:nvSpPr>
          <p:cNvPr id="26" name="Shape 20"/>
          <p:cNvSpPr/>
          <p:nvPr/>
        </p:nvSpPr>
        <p:spPr>
          <a:xfrm>
            <a:off x="7635240" y="2103120"/>
            <a:ext cx="548640" cy="548640"/>
          </a:xfrm>
          <a:prstGeom prst="ellipse">
            <a:avLst/>
          </a:prstGeom>
          <a:solidFill>
            <a:srgbClr val="F7E3E1"/>
          </a:solidFill>
          <a:ln w="12700">
            <a:solidFill>
              <a:srgbClr val="F7E3E1"/>
            </a:solidFill>
            <a:prstDash val="solid"/>
          </a:ln>
        </p:spPr>
      </p:sp>
      <p:pic>
        <p:nvPicPr>
          <p:cNvPr id="27" name="Image 4" descr="preencoded.png">    </p:cNvPr>
          <p:cNvPicPr>
            <a:picLocks noChangeAspect="1"/>
          </p:cNvPicPr>
          <p:nvPr/>
        </p:nvPicPr>
        <p:blipFill>
          <a:blip r:embed="rId5"/>
          <a:stretch>
            <a:fillRect/>
          </a:stretch>
        </p:blipFill>
        <p:spPr>
          <a:xfrm>
            <a:off x="7772400" y="2240280"/>
            <a:ext cx="274320" cy="274320"/>
          </a:xfrm>
          <a:prstGeom prst="rect">
            <a:avLst/>
          </a:prstGeom>
        </p:spPr>
      </p:pic>
      <p:sp>
        <p:nvSpPr>
          <p:cNvPr id="28" name="Text 21"/>
          <p:cNvSpPr txBox="1"/>
          <p:nvPr/>
        </p:nvSpPr>
        <p:spPr>
          <a:xfrm>
            <a:off x="7242048" y="2788920"/>
            <a:ext cx="1335024" cy="502920"/>
          </a:xfrm>
          <a:prstGeom prst="rect">
            <a:avLst/>
          </a:prstGeom>
          <a:noFill/>
          <a:ln/>
        </p:spPr>
        <p:txBody>
          <a:bodyPr wrap="square" lIns="0" tIns="0" rIns="0" bIns="0" rtlCol="0" anchor="t"/>
          <a:lstStyle/>
          <a:p>
            <a:pPr algn="ctr" indent="0" marL="0">
              <a:buNone/>
            </a:pPr>
            <a:r>
              <a:rPr lang="en-US" sz="1300" b="1" dirty="0">
                <a:solidFill>
                  <a:srgbClr val="1B2B36"/>
                </a:solidFill>
                <a:latin typeface="Calibri" pitchFamily="34" charset="0"/>
                <a:ea typeface="Calibri" pitchFamily="34" charset="-122"/>
                <a:cs typeface="Calibri" pitchFamily="34" charset="-120"/>
              </a:rPr>
              <a:t>No way to measure</a:t>
            </a:r>
            <a:endParaRPr lang="en-US" sz="1300" dirty="0"/>
          </a:p>
        </p:txBody>
      </p:sp>
      <p:sp>
        <p:nvSpPr>
          <p:cNvPr id="29" name="Text 22"/>
          <p:cNvSpPr txBox="1"/>
          <p:nvPr/>
        </p:nvSpPr>
        <p:spPr>
          <a:xfrm>
            <a:off x="7260336" y="3337560"/>
            <a:ext cx="1298448" cy="1005840"/>
          </a:xfrm>
          <a:prstGeom prst="rect">
            <a:avLst/>
          </a:prstGeom>
          <a:noFill/>
          <a:ln/>
        </p:spPr>
        <p:txBody>
          <a:bodyPr wrap="square" lIns="0" tIns="0" rIns="0" bIns="0" rtlCol="0" anchor="t"/>
          <a:lstStyle/>
          <a:p>
            <a:pPr algn="ctr" indent="0" marL="0">
              <a:buNone/>
            </a:pPr>
            <a:r>
              <a:rPr lang="en-US" sz="1100" dirty="0">
                <a:solidFill>
                  <a:srgbClr val="5B6B75"/>
                </a:solidFill>
                <a:latin typeface="Calibri" pitchFamily="34" charset="0"/>
                <a:ea typeface="Calibri" pitchFamily="34" charset="-122"/>
                <a:cs typeface="Calibri" pitchFamily="34" charset="-120"/>
              </a:rPr>
              <a:t>Quality was judged by trying it by hand.</a:t>
            </a:r>
            <a:endParaRPr lang="en-US" sz="1100" dirty="0"/>
          </a:p>
        </p:txBody>
      </p:sp>
      <p:sp>
        <p:nvSpPr>
          <p:cNvPr id="30" name="Text 23"/>
          <p:cNvSpPr txBox="1"/>
          <p:nvPr/>
        </p:nvSpPr>
        <p:spPr>
          <a:xfrm>
            <a:off x="8321040" y="4800600"/>
            <a:ext cx="457200" cy="228600"/>
          </a:xfrm>
          <a:prstGeom prst="rect">
            <a:avLst/>
          </a:prstGeom>
          <a:noFill/>
          <a:ln/>
        </p:spPr>
        <p:txBody>
          <a:bodyPr wrap="square" lIns="0" tIns="0" rIns="0" bIns="0" rtlCol="0" anchor="ctr"/>
          <a:lstStyle/>
          <a:p>
            <a:pPr algn="r" indent="0" marL="0">
              <a:buNone/>
            </a:pPr>
            <a:r>
              <a:rPr lang="en-US" sz="900" dirty="0">
                <a:solidFill>
                  <a:srgbClr val="5B6B75"/>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000" b="1" spc="100" kern="0" dirty="0">
                <a:solidFill>
                  <a:srgbClr val="137C86"/>
                </a:solidFill>
                <a:latin typeface="Calibri" pitchFamily="34" charset="0"/>
                <a:ea typeface="Calibri" pitchFamily="34" charset="-122"/>
                <a:cs typeface="Calibri" pitchFamily="34" charset="-120"/>
              </a:rPr>
              <a:t>OVERVIEW</a:t>
            </a:r>
            <a:endParaRPr lang="en-US" sz="1000" dirty="0"/>
          </a:p>
        </p:txBody>
      </p:sp>
      <p:sp>
        <p:nvSpPr>
          <p:cNvPr id="3" name="Text 1"/>
          <p:cNvSpPr txBox="1"/>
          <p:nvPr/>
        </p:nvSpPr>
        <p:spPr>
          <a:xfrm>
            <a:off x="457200" y="530352"/>
            <a:ext cx="8229600" cy="457200"/>
          </a:xfrm>
          <a:prstGeom prst="rect">
            <a:avLst/>
          </a:prstGeom>
          <a:noFill/>
          <a:ln/>
        </p:spPr>
        <p:txBody>
          <a:bodyPr wrap="square" lIns="0" tIns="0" rIns="0" bIns="0" rtlCol="0" anchor="ctr"/>
          <a:lstStyle/>
          <a:p>
            <a:pPr indent="0" marL="0">
              <a:buNone/>
            </a:pPr>
            <a:r>
              <a:rPr lang="en-US" sz="2600" b="1" dirty="0">
                <a:solidFill>
                  <a:srgbClr val="1B2B36"/>
                </a:solidFill>
                <a:latin typeface="Cambria" pitchFamily="34" charset="0"/>
                <a:ea typeface="Cambria" pitchFamily="34" charset="-122"/>
                <a:cs typeface="Cambria" pitchFamily="34" charset="-120"/>
              </a:rPr>
              <a:t>Four big additions</a:t>
            </a:r>
            <a:endParaRPr lang="en-US" sz="2600" dirty="0"/>
          </a:p>
        </p:txBody>
      </p:sp>
      <p:sp>
        <p:nvSpPr>
          <p:cNvPr id="4" name="Shape 2"/>
          <p:cNvSpPr/>
          <p:nvPr/>
        </p:nvSpPr>
        <p:spPr>
          <a:xfrm>
            <a:off x="457200" y="1234440"/>
            <a:ext cx="4023360" cy="1600200"/>
          </a:xfrm>
          <a:prstGeom prst="roundRect">
            <a:avLst>
              <a:gd name="adj" fmla="val 4571"/>
            </a:avLst>
          </a:prstGeom>
          <a:solidFill>
            <a:srgbClr val="EEF4F6"/>
          </a:solidFill>
          <a:ln w="12700">
            <a:solidFill>
              <a:srgbClr val="EEF4F6"/>
            </a:solidFill>
            <a:prstDash val="solid"/>
          </a:ln>
        </p:spPr>
      </p:sp>
      <p:sp>
        <p:nvSpPr>
          <p:cNvPr id="5" name="Shape 3"/>
          <p:cNvSpPr/>
          <p:nvPr/>
        </p:nvSpPr>
        <p:spPr>
          <a:xfrm>
            <a:off x="731520" y="1508760"/>
            <a:ext cx="640080" cy="640080"/>
          </a:xfrm>
          <a:prstGeom prst="ellipse">
            <a:avLst/>
          </a:prstGeom>
          <a:solidFill>
            <a:srgbClr val="137C86"/>
          </a:solidFill>
          <a:ln w="12700">
            <a:solidFill>
              <a:srgbClr val="137C86"/>
            </a:solidFill>
            <a:prstDash val="solid"/>
          </a:ln>
        </p:spPr>
      </p:sp>
      <p:pic>
        <p:nvPicPr>
          <p:cNvPr id="6" name="Image 0" descr="preencoded.png">    </p:cNvPr>
          <p:cNvPicPr>
            <a:picLocks noChangeAspect="1"/>
          </p:cNvPicPr>
          <p:nvPr/>
        </p:nvPicPr>
        <p:blipFill>
          <a:blip r:embed="rId1"/>
          <a:stretch>
            <a:fillRect/>
          </a:stretch>
        </p:blipFill>
        <p:spPr>
          <a:xfrm>
            <a:off x="891540" y="1668780"/>
            <a:ext cx="320040" cy="320040"/>
          </a:xfrm>
          <a:prstGeom prst="rect">
            <a:avLst/>
          </a:prstGeom>
        </p:spPr>
      </p:pic>
      <p:sp>
        <p:nvSpPr>
          <p:cNvPr id="7" name="Text 4"/>
          <p:cNvSpPr txBox="1"/>
          <p:nvPr/>
        </p:nvSpPr>
        <p:spPr>
          <a:xfrm>
            <a:off x="1554480" y="1463040"/>
            <a:ext cx="2743200" cy="365760"/>
          </a:xfrm>
          <a:prstGeom prst="rect">
            <a:avLst/>
          </a:prstGeom>
          <a:noFill/>
          <a:ln/>
        </p:spPr>
        <p:txBody>
          <a:bodyPr wrap="square" lIns="0" tIns="0" rIns="0" bIns="0" rtlCol="0" anchor="ctr"/>
          <a:lstStyle/>
          <a:p>
            <a:pPr indent="0" marL="0">
              <a:buNone/>
            </a:pPr>
            <a:r>
              <a:rPr lang="en-US" sz="1700" b="1" dirty="0">
                <a:solidFill>
                  <a:srgbClr val="1B2B36"/>
                </a:solidFill>
                <a:latin typeface="Cambria" pitchFamily="34" charset="0"/>
                <a:ea typeface="Cambria" pitchFamily="34" charset="-122"/>
                <a:cs typeface="Cambria" pitchFamily="34" charset="-120"/>
              </a:rPr>
              <a:t>Medical Skills</a:t>
            </a:r>
            <a:endParaRPr lang="en-US" sz="1700" dirty="0"/>
          </a:p>
        </p:txBody>
      </p:sp>
      <p:sp>
        <p:nvSpPr>
          <p:cNvPr id="8" name="Text 5"/>
          <p:cNvSpPr txBox="1"/>
          <p:nvPr/>
        </p:nvSpPr>
        <p:spPr>
          <a:xfrm>
            <a:off x="1554480" y="1856232"/>
            <a:ext cx="2788920" cy="548640"/>
          </a:xfrm>
          <a:prstGeom prst="rect">
            <a:avLst/>
          </a:prstGeom>
          <a:noFill/>
          <a:ln/>
        </p:spPr>
        <p:txBody>
          <a:bodyPr wrap="square" lIns="0" tIns="0" rIns="0" bIns="0" rtlCol="0" anchor="t"/>
          <a:lstStyle/>
          <a:p>
            <a:pPr indent="0" marL="0">
              <a:buNone/>
            </a:pPr>
            <a:r>
              <a:rPr lang="en-US" sz="1200" dirty="0">
                <a:solidFill>
                  <a:srgbClr val="5B6B75"/>
                </a:solidFill>
                <a:latin typeface="Calibri" pitchFamily="34" charset="0"/>
                <a:ea typeface="Calibri" pitchFamily="34" charset="-122"/>
                <a:cs typeface="Calibri" pitchFamily="34" charset="-120"/>
              </a:rPr>
              <a:t>7 expert “recipes” the agent loads only when it needs them.</a:t>
            </a:r>
            <a:endParaRPr lang="en-US" sz="1200" dirty="0"/>
          </a:p>
        </p:txBody>
      </p:sp>
      <p:sp>
        <p:nvSpPr>
          <p:cNvPr id="9" name="Text 6"/>
          <p:cNvSpPr txBox="1"/>
          <p:nvPr/>
        </p:nvSpPr>
        <p:spPr>
          <a:xfrm>
            <a:off x="1554480" y="2423160"/>
            <a:ext cx="2788920" cy="274320"/>
          </a:xfrm>
          <a:prstGeom prst="rect">
            <a:avLst/>
          </a:prstGeom>
          <a:noFill/>
          <a:ln/>
        </p:spPr>
        <p:txBody>
          <a:bodyPr wrap="square" lIns="0" tIns="0" rIns="0" bIns="0" rtlCol="0" anchor="ctr"/>
          <a:lstStyle/>
          <a:p>
            <a:pPr indent="0" marL="0">
              <a:buNone/>
            </a:pPr>
            <a:r>
              <a:rPr lang="en-US" sz="1100" b="1" i="1" dirty="0">
                <a:solidFill>
                  <a:srgbClr val="137C86"/>
                </a:solidFill>
                <a:latin typeface="Calibri" pitchFamily="34" charset="0"/>
                <a:ea typeface="Calibri" pitchFamily="34" charset="-122"/>
                <a:cs typeface="Calibri" pitchFamily="34" charset="-120"/>
              </a:rPr>
              <a:t>Smarter answers, smaller prompt</a:t>
            </a:r>
            <a:endParaRPr lang="en-US" sz="1100" dirty="0"/>
          </a:p>
        </p:txBody>
      </p:sp>
      <p:sp>
        <p:nvSpPr>
          <p:cNvPr id="10" name="Shape 7"/>
          <p:cNvSpPr/>
          <p:nvPr/>
        </p:nvSpPr>
        <p:spPr>
          <a:xfrm>
            <a:off x="4663440" y="1234440"/>
            <a:ext cx="4023360" cy="1600200"/>
          </a:xfrm>
          <a:prstGeom prst="roundRect">
            <a:avLst>
              <a:gd name="adj" fmla="val 4571"/>
            </a:avLst>
          </a:prstGeom>
          <a:solidFill>
            <a:srgbClr val="EEF4F6"/>
          </a:solidFill>
          <a:ln w="12700">
            <a:solidFill>
              <a:srgbClr val="EEF4F6"/>
            </a:solidFill>
            <a:prstDash val="solid"/>
          </a:ln>
        </p:spPr>
      </p:sp>
      <p:sp>
        <p:nvSpPr>
          <p:cNvPr id="11" name="Shape 8"/>
          <p:cNvSpPr/>
          <p:nvPr/>
        </p:nvSpPr>
        <p:spPr>
          <a:xfrm>
            <a:off x="4937760" y="1508760"/>
            <a:ext cx="640080" cy="640080"/>
          </a:xfrm>
          <a:prstGeom prst="ellipse">
            <a:avLst/>
          </a:prstGeom>
          <a:solidFill>
            <a:srgbClr val="1BBF9C"/>
          </a:solidFill>
          <a:ln w="12700">
            <a:solidFill>
              <a:srgbClr val="1BBF9C"/>
            </a:solidFill>
            <a:prstDash val="solid"/>
          </a:ln>
        </p:spPr>
      </p:sp>
      <p:pic>
        <p:nvPicPr>
          <p:cNvPr id="12" name="Image 1" descr="preencoded.png">    </p:cNvPr>
          <p:cNvPicPr>
            <a:picLocks noChangeAspect="1"/>
          </p:cNvPicPr>
          <p:nvPr/>
        </p:nvPicPr>
        <p:blipFill>
          <a:blip r:embed="rId2"/>
          <a:stretch>
            <a:fillRect/>
          </a:stretch>
        </p:blipFill>
        <p:spPr>
          <a:xfrm>
            <a:off x="5097780" y="1668780"/>
            <a:ext cx="320040" cy="320040"/>
          </a:xfrm>
          <a:prstGeom prst="rect">
            <a:avLst/>
          </a:prstGeom>
        </p:spPr>
      </p:pic>
      <p:sp>
        <p:nvSpPr>
          <p:cNvPr id="13" name="Text 9"/>
          <p:cNvSpPr txBox="1"/>
          <p:nvPr/>
        </p:nvSpPr>
        <p:spPr>
          <a:xfrm>
            <a:off x="5760720" y="1463040"/>
            <a:ext cx="2743200" cy="365760"/>
          </a:xfrm>
          <a:prstGeom prst="rect">
            <a:avLst/>
          </a:prstGeom>
          <a:noFill/>
          <a:ln/>
        </p:spPr>
        <p:txBody>
          <a:bodyPr wrap="square" lIns="0" tIns="0" rIns="0" bIns="0" rtlCol="0" anchor="ctr"/>
          <a:lstStyle/>
          <a:p>
            <a:pPr indent="0" marL="0">
              <a:buNone/>
            </a:pPr>
            <a:r>
              <a:rPr lang="en-US" sz="1700" b="1" dirty="0">
                <a:solidFill>
                  <a:srgbClr val="1B2B36"/>
                </a:solidFill>
                <a:latin typeface="Cambria" pitchFamily="34" charset="0"/>
                <a:ea typeface="Cambria" pitchFamily="34" charset="-122"/>
                <a:cs typeface="Cambria" pitchFamily="34" charset="-120"/>
              </a:rPr>
              <a:t>MCP — Both Ways</a:t>
            </a:r>
            <a:endParaRPr lang="en-US" sz="1700" dirty="0"/>
          </a:p>
        </p:txBody>
      </p:sp>
      <p:sp>
        <p:nvSpPr>
          <p:cNvPr id="14" name="Text 10"/>
          <p:cNvSpPr txBox="1"/>
          <p:nvPr/>
        </p:nvSpPr>
        <p:spPr>
          <a:xfrm>
            <a:off x="5760720" y="1856232"/>
            <a:ext cx="2788920" cy="548640"/>
          </a:xfrm>
          <a:prstGeom prst="rect">
            <a:avLst/>
          </a:prstGeom>
          <a:noFill/>
          <a:ln/>
        </p:spPr>
        <p:txBody>
          <a:bodyPr wrap="square" lIns="0" tIns="0" rIns="0" bIns="0" rtlCol="0" anchor="t"/>
          <a:lstStyle/>
          <a:p>
            <a:pPr indent="0" marL="0">
              <a:buNone/>
            </a:pPr>
            <a:r>
              <a:rPr lang="en-US" sz="1200" dirty="0">
                <a:solidFill>
                  <a:srgbClr val="5B6B75"/>
                </a:solidFill>
                <a:latin typeface="Calibri" pitchFamily="34" charset="0"/>
                <a:ea typeface="Calibri" pitchFamily="34" charset="-122"/>
                <a:cs typeface="Calibri" pitchFamily="34" charset="-120"/>
              </a:rPr>
              <a:t>Tabeeby is an MCP server, and can borrow tools from others.</a:t>
            </a:r>
            <a:endParaRPr lang="en-US" sz="1200" dirty="0"/>
          </a:p>
        </p:txBody>
      </p:sp>
      <p:sp>
        <p:nvSpPr>
          <p:cNvPr id="15" name="Text 11"/>
          <p:cNvSpPr txBox="1"/>
          <p:nvPr/>
        </p:nvSpPr>
        <p:spPr>
          <a:xfrm>
            <a:off x="5760720" y="2423160"/>
            <a:ext cx="2788920" cy="274320"/>
          </a:xfrm>
          <a:prstGeom prst="rect">
            <a:avLst/>
          </a:prstGeom>
          <a:noFill/>
          <a:ln/>
        </p:spPr>
        <p:txBody>
          <a:bodyPr wrap="square" lIns="0" tIns="0" rIns="0" bIns="0" rtlCol="0" anchor="ctr"/>
          <a:lstStyle/>
          <a:p>
            <a:pPr indent="0" marL="0">
              <a:buNone/>
            </a:pPr>
            <a:r>
              <a:rPr lang="en-US" sz="1100" b="1" i="1" dirty="0">
                <a:solidFill>
                  <a:srgbClr val="137C86"/>
                </a:solidFill>
                <a:latin typeface="Calibri" pitchFamily="34" charset="0"/>
                <a:ea typeface="Calibri" pitchFamily="34" charset="-122"/>
                <a:cs typeface="Calibri" pitchFamily="34" charset="-120"/>
              </a:rPr>
              <a:t>Plugs into Claude, Cursor &amp; more</a:t>
            </a:r>
            <a:endParaRPr lang="en-US" sz="1100" dirty="0"/>
          </a:p>
        </p:txBody>
      </p:sp>
      <p:sp>
        <p:nvSpPr>
          <p:cNvPr id="16" name="Shape 12"/>
          <p:cNvSpPr/>
          <p:nvPr/>
        </p:nvSpPr>
        <p:spPr>
          <a:xfrm>
            <a:off x="457200" y="3017520"/>
            <a:ext cx="4023360" cy="1600200"/>
          </a:xfrm>
          <a:prstGeom prst="roundRect">
            <a:avLst>
              <a:gd name="adj" fmla="val 4571"/>
            </a:avLst>
          </a:prstGeom>
          <a:solidFill>
            <a:srgbClr val="EEF4F6"/>
          </a:solidFill>
          <a:ln w="12700">
            <a:solidFill>
              <a:srgbClr val="EEF4F6"/>
            </a:solidFill>
            <a:prstDash val="solid"/>
          </a:ln>
        </p:spPr>
      </p:sp>
      <p:sp>
        <p:nvSpPr>
          <p:cNvPr id="17" name="Shape 13"/>
          <p:cNvSpPr/>
          <p:nvPr/>
        </p:nvSpPr>
        <p:spPr>
          <a:xfrm>
            <a:off x="731520" y="3291840"/>
            <a:ext cx="640080" cy="640080"/>
          </a:xfrm>
          <a:prstGeom prst="ellipse">
            <a:avLst/>
          </a:prstGeom>
          <a:solidFill>
            <a:srgbClr val="137C86"/>
          </a:solidFill>
          <a:ln w="12700">
            <a:solidFill>
              <a:srgbClr val="137C86"/>
            </a:solidFill>
            <a:prstDash val="solid"/>
          </a:ln>
        </p:spPr>
      </p:sp>
      <p:pic>
        <p:nvPicPr>
          <p:cNvPr id="18" name="Image 2" descr="preencoded.png">    </p:cNvPr>
          <p:cNvPicPr>
            <a:picLocks noChangeAspect="1"/>
          </p:cNvPicPr>
          <p:nvPr/>
        </p:nvPicPr>
        <p:blipFill>
          <a:blip r:embed="rId3"/>
          <a:stretch>
            <a:fillRect/>
          </a:stretch>
        </p:blipFill>
        <p:spPr>
          <a:xfrm>
            <a:off x="891540" y="3451860"/>
            <a:ext cx="320040" cy="320040"/>
          </a:xfrm>
          <a:prstGeom prst="rect">
            <a:avLst/>
          </a:prstGeom>
        </p:spPr>
      </p:pic>
      <p:sp>
        <p:nvSpPr>
          <p:cNvPr id="19" name="Text 14"/>
          <p:cNvSpPr txBox="1"/>
          <p:nvPr/>
        </p:nvSpPr>
        <p:spPr>
          <a:xfrm>
            <a:off x="1554480" y="3246120"/>
            <a:ext cx="2743200" cy="365760"/>
          </a:xfrm>
          <a:prstGeom prst="rect">
            <a:avLst/>
          </a:prstGeom>
          <a:noFill/>
          <a:ln/>
        </p:spPr>
        <p:txBody>
          <a:bodyPr wrap="square" lIns="0" tIns="0" rIns="0" bIns="0" rtlCol="0" anchor="ctr"/>
          <a:lstStyle/>
          <a:p>
            <a:pPr indent="0" marL="0">
              <a:buNone/>
            </a:pPr>
            <a:r>
              <a:rPr lang="en-US" sz="1700" b="1" dirty="0">
                <a:solidFill>
                  <a:srgbClr val="1B2B36"/>
                </a:solidFill>
                <a:latin typeface="Cambria" pitchFamily="34" charset="0"/>
                <a:ea typeface="Cambria" pitchFamily="34" charset="-122"/>
                <a:cs typeface="Cambria" pitchFamily="34" charset="-120"/>
              </a:rPr>
              <a:t>Reliable Goal Loop</a:t>
            </a:r>
            <a:endParaRPr lang="en-US" sz="1700" dirty="0"/>
          </a:p>
        </p:txBody>
      </p:sp>
      <p:sp>
        <p:nvSpPr>
          <p:cNvPr id="20" name="Text 15"/>
          <p:cNvSpPr txBox="1"/>
          <p:nvPr/>
        </p:nvSpPr>
        <p:spPr>
          <a:xfrm>
            <a:off x="1554480" y="3639312"/>
            <a:ext cx="2788920" cy="548640"/>
          </a:xfrm>
          <a:prstGeom prst="rect">
            <a:avLst/>
          </a:prstGeom>
          <a:noFill/>
          <a:ln/>
        </p:spPr>
        <p:txBody>
          <a:bodyPr wrap="square" lIns="0" tIns="0" rIns="0" bIns="0" rtlCol="0" anchor="t"/>
          <a:lstStyle/>
          <a:p>
            <a:pPr indent="0" marL="0">
              <a:buNone/>
            </a:pPr>
            <a:r>
              <a:rPr lang="en-US" sz="1200" dirty="0">
                <a:solidFill>
                  <a:srgbClr val="5B6B75"/>
                </a:solidFill>
                <a:latin typeface="Calibri" pitchFamily="34" charset="0"/>
                <a:ea typeface="Calibri" pitchFamily="34" charset="-122"/>
                <a:cs typeface="Calibri" pitchFamily="34" charset="-120"/>
              </a:rPr>
              <a:t>Budgets, stuck detection, and self-checking every answer.</a:t>
            </a:r>
            <a:endParaRPr lang="en-US" sz="1200" dirty="0"/>
          </a:p>
        </p:txBody>
      </p:sp>
      <p:sp>
        <p:nvSpPr>
          <p:cNvPr id="21" name="Text 16"/>
          <p:cNvSpPr txBox="1"/>
          <p:nvPr/>
        </p:nvSpPr>
        <p:spPr>
          <a:xfrm>
            <a:off x="1554480" y="4206240"/>
            <a:ext cx="2788920" cy="274320"/>
          </a:xfrm>
          <a:prstGeom prst="rect">
            <a:avLst/>
          </a:prstGeom>
          <a:noFill/>
          <a:ln/>
        </p:spPr>
        <p:txBody>
          <a:bodyPr wrap="square" lIns="0" tIns="0" rIns="0" bIns="0" rtlCol="0" anchor="ctr"/>
          <a:lstStyle/>
          <a:p>
            <a:pPr indent="0" marL="0">
              <a:buNone/>
            </a:pPr>
            <a:r>
              <a:rPr lang="en-US" sz="1100" b="1" i="1" dirty="0">
                <a:solidFill>
                  <a:srgbClr val="137C86"/>
                </a:solidFill>
                <a:latin typeface="Calibri" pitchFamily="34" charset="0"/>
                <a:ea typeface="Calibri" pitchFamily="34" charset="-122"/>
                <a:cs typeface="Calibri" pitchFamily="34" charset="-120"/>
              </a:rPr>
              <a:t>Predictable cost, safer replies</a:t>
            </a:r>
            <a:endParaRPr lang="en-US" sz="1100" dirty="0"/>
          </a:p>
        </p:txBody>
      </p:sp>
      <p:sp>
        <p:nvSpPr>
          <p:cNvPr id="22" name="Shape 17"/>
          <p:cNvSpPr/>
          <p:nvPr/>
        </p:nvSpPr>
        <p:spPr>
          <a:xfrm>
            <a:off x="4663440" y="3017520"/>
            <a:ext cx="4023360" cy="1600200"/>
          </a:xfrm>
          <a:prstGeom prst="roundRect">
            <a:avLst>
              <a:gd name="adj" fmla="val 4571"/>
            </a:avLst>
          </a:prstGeom>
          <a:solidFill>
            <a:srgbClr val="EEF4F6"/>
          </a:solidFill>
          <a:ln w="12700">
            <a:solidFill>
              <a:srgbClr val="EEF4F6"/>
            </a:solidFill>
            <a:prstDash val="solid"/>
          </a:ln>
        </p:spPr>
      </p:sp>
      <p:sp>
        <p:nvSpPr>
          <p:cNvPr id="23" name="Shape 18"/>
          <p:cNvSpPr/>
          <p:nvPr/>
        </p:nvSpPr>
        <p:spPr>
          <a:xfrm>
            <a:off x="4937760" y="3291840"/>
            <a:ext cx="640080" cy="640080"/>
          </a:xfrm>
          <a:prstGeom prst="ellipse">
            <a:avLst/>
          </a:prstGeom>
          <a:solidFill>
            <a:srgbClr val="1BBF9C"/>
          </a:solidFill>
          <a:ln w="12700">
            <a:solidFill>
              <a:srgbClr val="1BBF9C"/>
            </a:solidFill>
            <a:prstDash val="solid"/>
          </a:ln>
        </p:spPr>
      </p:sp>
      <p:pic>
        <p:nvPicPr>
          <p:cNvPr id="24" name="Image 3" descr="preencoded.png">    </p:cNvPr>
          <p:cNvPicPr>
            <a:picLocks noChangeAspect="1"/>
          </p:cNvPicPr>
          <p:nvPr/>
        </p:nvPicPr>
        <p:blipFill>
          <a:blip r:embed="rId4"/>
          <a:stretch>
            <a:fillRect/>
          </a:stretch>
        </p:blipFill>
        <p:spPr>
          <a:xfrm>
            <a:off x="5097780" y="3451860"/>
            <a:ext cx="320040" cy="320040"/>
          </a:xfrm>
          <a:prstGeom prst="rect">
            <a:avLst/>
          </a:prstGeom>
        </p:spPr>
      </p:pic>
      <p:sp>
        <p:nvSpPr>
          <p:cNvPr id="25" name="Text 19"/>
          <p:cNvSpPr txBox="1"/>
          <p:nvPr/>
        </p:nvSpPr>
        <p:spPr>
          <a:xfrm>
            <a:off x="5760720" y="3246120"/>
            <a:ext cx="2743200" cy="365760"/>
          </a:xfrm>
          <a:prstGeom prst="rect">
            <a:avLst/>
          </a:prstGeom>
          <a:noFill/>
          <a:ln/>
        </p:spPr>
        <p:txBody>
          <a:bodyPr wrap="square" lIns="0" tIns="0" rIns="0" bIns="0" rtlCol="0" anchor="ctr"/>
          <a:lstStyle/>
          <a:p>
            <a:pPr indent="0" marL="0">
              <a:buNone/>
            </a:pPr>
            <a:r>
              <a:rPr lang="en-US" sz="1700" b="1" dirty="0">
                <a:solidFill>
                  <a:srgbClr val="1B2B36"/>
                </a:solidFill>
                <a:latin typeface="Cambria" pitchFamily="34" charset="0"/>
                <a:ea typeface="Cambria" pitchFamily="34" charset="-122"/>
                <a:cs typeface="Cambria" pitchFamily="34" charset="-120"/>
              </a:rPr>
              <a:t>Evaluation</a:t>
            </a:r>
            <a:endParaRPr lang="en-US" sz="1700" dirty="0"/>
          </a:p>
        </p:txBody>
      </p:sp>
      <p:sp>
        <p:nvSpPr>
          <p:cNvPr id="26" name="Text 20"/>
          <p:cNvSpPr txBox="1"/>
          <p:nvPr/>
        </p:nvSpPr>
        <p:spPr>
          <a:xfrm>
            <a:off x="5760720" y="3639312"/>
            <a:ext cx="2788920" cy="548640"/>
          </a:xfrm>
          <a:prstGeom prst="rect">
            <a:avLst/>
          </a:prstGeom>
          <a:noFill/>
          <a:ln/>
        </p:spPr>
        <p:txBody>
          <a:bodyPr wrap="square" lIns="0" tIns="0" rIns="0" bIns="0" rtlCol="0" anchor="t"/>
          <a:lstStyle/>
          <a:p>
            <a:pPr indent="0" marL="0">
              <a:buNone/>
            </a:pPr>
            <a:r>
              <a:rPr lang="en-US" sz="1200" dirty="0">
                <a:solidFill>
                  <a:srgbClr val="5B6B75"/>
                </a:solidFill>
                <a:latin typeface="Calibri" pitchFamily="34" charset="0"/>
                <a:ea typeface="Calibri" pitchFamily="34" charset="-122"/>
                <a:cs typeface="Calibri" pitchFamily="34" charset="-120"/>
              </a:rPr>
              <a:t>Offline tests, live scored evals, and a skill-trigger bench.</a:t>
            </a:r>
            <a:endParaRPr lang="en-US" sz="1200" dirty="0"/>
          </a:p>
        </p:txBody>
      </p:sp>
      <p:sp>
        <p:nvSpPr>
          <p:cNvPr id="27" name="Text 21"/>
          <p:cNvSpPr txBox="1"/>
          <p:nvPr/>
        </p:nvSpPr>
        <p:spPr>
          <a:xfrm>
            <a:off x="5760720" y="4206240"/>
            <a:ext cx="2788920" cy="274320"/>
          </a:xfrm>
          <a:prstGeom prst="rect">
            <a:avLst/>
          </a:prstGeom>
          <a:noFill/>
          <a:ln/>
        </p:spPr>
        <p:txBody>
          <a:bodyPr wrap="square" lIns="0" tIns="0" rIns="0" bIns="0" rtlCol="0" anchor="ctr"/>
          <a:lstStyle/>
          <a:p>
            <a:pPr indent="0" marL="0">
              <a:buNone/>
            </a:pPr>
            <a:r>
              <a:rPr lang="en-US" sz="1100" b="1" i="1" dirty="0">
                <a:solidFill>
                  <a:srgbClr val="137C86"/>
                </a:solidFill>
                <a:latin typeface="Calibri" pitchFamily="34" charset="0"/>
                <a:ea typeface="Calibri" pitchFamily="34" charset="-122"/>
                <a:cs typeface="Calibri" pitchFamily="34" charset="-120"/>
              </a:rPr>
              <a:t>Quality we can prove</a:t>
            </a:r>
            <a:endParaRPr lang="en-US" sz="1100" dirty="0"/>
          </a:p>
        </p:txBody>
      </p:sp>
      <p:sp>
        <p:nvSpPr>
          <p:cNvPr id="28" name="Text 22"/>
          <p:cNvSpPr txBox="1"/>
          <p:nvPr/>
        </p:nvSpPr>
        <p:spPr>
          <a:xfrm>
            <a:off x="8321040" y="4800600"/>
            <a:ext cx="457200" cy="228600"/>
          </a:xfrm>
          <a:prstGeom prst="rect">
            <a:avLst/>
          </a:prstGeom>
          <a:noFill/>
          <a:ln/>
        </p:spPr>
        <p:txBody>
          <a:bodyPr wrap="square" lIns="0" tIns="0" rIns="0" bIns="0" rtlCol="0" anchor="ctr"/>
          <a:lstStyle/>
          <a:p>
            <a:pPr algn="r" indent="0" marL="0">
              <a:buNone/>
            </a:pPr>
            <a:r>
              <a:rPr lang="en-US" sz="900" dirty="0">
                <a:solidFill>
                  <a:srgbClr val="5B6B75"/>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000" b="1" spc="100" kern="0" dirty="0">
                <a:solidFill>
                  <a:srgbClr val="137C86"/>
                </a:solidFill>
                <a:latin typeface="Calibri" pitchFamily="34" charset="0"/>
                <a:ea typeface="Calibri" pitchFamily="34" charset="-122"/>
                <a:cs typeface="Calibri" pitchFamily="34" charset="-120"/>
              </a:rPr>
              <a:t>ADDITION 1 · SKILLS</a:t>
            </a:r>
            <a:endParaRPr lang="en-US" sz="1000" dirty="0"/>
          </a:p>
        </p:txBody>
      </p:sp>
      <p:sp>
        <p:nvSpPr>
          <p:cNvPr id="3" name="Text 1"/>
          <p:cNvSpPr txBox="1"/>
          <p:nvPr/>
        </p:nvSpPr>
        <p:spPr>
          <a:xfrm>
            <a:off x="457200" y="530352"/>
            <a:ext cx="8229600" cy="457200"/>
          </a:xfrm>
          <a:prstGeom prst="rect">
            <a:avLst/>
          </a:prstGeom>
          <a:noFill/>
          <a:ln/>
        </p:spPr>
        <p:txBody>
          <a:bodyPr wrap="square" lIns="0" tIns="0" rIns="0" bIns="0" rtlCol="0" anchor="ctr"/>
          <a:lstStyle/>
          <a:p>
            <a:pPr indent="0" marL="0">
              <a:buNone/>
            </a:pPr>
            <a:r>
              <a:rPr lang="en-US" sz="2600" b="1" dirty="0">
                <a:solidFill>
                  <a:srgbClr val="1B2B36"/>
                </a:solidFill>
                <a:latin typeface="Cambria" pitchFamily="34" charset="0"/>
                <a:ea typeface="Cambria" pitchFamily="34" charset="-122"/>
                <a:cs typeface="Cambria" pitchFamily="34" charset="-120"/>
              </a:rPr>
              <a:t>A tool is an appliance — a skill is a recipe</a:t>
            </a:r>
            <a:endParaRPr lang="en-US" sz="2600" dirty="0"/>
          </a:p>
        </p:txBody>
      </p:sp>
      <p:sp>
        <p:nvSpPr>
          <p:cNvPr id="4" name="Text 2"/>
          <p:cNvSpPr txBox="1"/>
          <p:nvPr/>
        </p:nvSpPr>
        <p:spPr>
          <a:xfrm>
            <a:off x="457200" y="1051560"/>
            <a:ext cx="3931920" cy="731520"/>
          </a:xfrm>
          <a:prstGeom prst="rect">
            <a:avLst/>
          </a:prstGeom>
          <a:noFill/>
          <a:ln/>
        </p:spPr>
        <p:txBody>
          <a:bodyPr wrap="square" lIns="0" tIns="0" rIns="0" bIns="0" rtlCol="0" anchor="t"/>
          <a:lstStyle/>
          <a:p>
            <a:pPr indent="0" marL="0">
              <a:buNone/>
            </a:pPr>
            <a:r>
              <a:rPr lang="en-US" sz="1300" dirty="0">
                <a:solidFill>
                  <a:srgbClr val="5B6B75"/>
                </a:solidFill>
                <a:latin typeface="Calibri" pitchFamily="34" charset="0"/>
                <a:ea typeface="Calibri" pitchFamily="34" charset="-122"/>
                <a:cs typeface="Calibri" pitchFamily="34" charset="-120"/>
              </a:rPr>
              <a:t>The agent always sees a short </a:t>
            </a:r>
            <a:pPr indent="0" marL="0">
              <a:buNone/>
            </a:pPr>
            <a:r>
              <a:rPr lang="en-US" sz="1300" b="1" dirty="0">
                <a:solidFill>
                  <a:srgbClr val="1B2B36"/>
                </a:solidFill>
                <a:latin typeface="Calibri" pitchFamily="34" charset="0"/>
                <a:ea typeface="Calibri" pitchFamily="34" charset="-122"/>
                <a:cs typeface="Calibri" pitchFamily="34" charset="-120"/>
              </a:rPr>
              <a:t>menu</a:t>
            </a:r>
            <a:pPr indent="0" marL="0">
              <a:buNone/>
            </a:pPr>
            <a:r>
              <a:rPr lang="en-US" sz="1300" dirty="0">
                <a:solidFill>
                  <a:srgbClr val="5B6B75"/>
                </a:solidFill>
                <a:latin typeface="Calibri" pitchFamily="34" charset="0"/>
                <a:ea typeface="Calibri" pitchFamily="34" charset="-122"/>
                <a:cs typeface="Calibri" pitchFamily="34" charset="-120"/>
              </a:rPr>
              <a:t> of skills. When a question needs one, it opens that skill's instructions — and only then.</a:t>
            </a:r>
            <a:endParaRPr lang="en-US" sz="1300" dirty="0"/>
          </a:p>
        </p:txBody>
      </p:sp>
      <p:sp>
        <p:nvSpPr>
          <p:cNvPr id="5" name="Text 3"/>
          <p:cNvSpPr txBox="1"/>
          <p:nvPr/>
        </p:nvSpPr>
        <p:spPr>
          <a:xfrm>
            <a:off x="457200" y="1920240"/>
            <a:ext cx="3931920" cy="320040"/>
          </a:xfrm>
          <a:prstGeom prst="rect">
            <a:avLst/>
          </a:prstGeom>
          <a:noFill/>
          <a:ln/>
        </p:spPr>
        <p:txBody>
          <a:bodyPr wrap="square" lIns="0" tIns="0" rIns="0" bIns="0" rtlCol="0" anchor="ctr"/>
          <a:lstStyle/>
          <a:p>
            <a:pPr indent="0" marL="0">
              <a:buNone/>
            </a:pPr>
            <a:r>
              <a:rPr lang="en-US" sz="1600" b="1" dirty="0">
                <a:solidFill>
                  <a:srgbClr val="1B2B36"/>
                </a:solidFill>
                <a:latin typeface="Cambria" pitchFamily="34" charset="0"/>
                <a:ea typeface="Cambria" pitchFamily="34" charset="-122"/>
                <a:cs typeface="Cambria" pitchFamily="34" charset="-120"/>
              </a:rPr>
              <a:t>Why</a:t>
            </a:r>
            <a:endParaRPr lang="en-US" sz="1600" dirty="0"/>
          </a:p>
        </p:txBody>
      </p:sp>
      <p:sp>
        <p:nvSpPr>
          <p:cNvPr id="6" name="Text 4"/>
          <p:cNvSpPr txBox="1"/>
          <p:nvPr/>
        </p:nvSpPr>
        <p:spPr>
          <a:xfrm>
            <a:off x="457200" y="2286000"/>
            <a:ext cx="3931920" cy="201168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B2B36"/>
                </a:solidFill>
                <a:latin typeface="Calibri" pitchFamily="34" charset="0"/>
                <a:ea typeface="Calibri" pitchFamily="34" charset="-122"/>
                <a:cs typeface="Calibri" pitchFamily="34" charset="-120"/>
              </a:rPr>
              <a:t>Focused prompt: expertise is loaded on demand, not all at once</a:t>
            </a:r>
            <a:endParaRPr lang="en-US" sz="1300" dirty="0"/>
          </a:p>
          <a:p>
            <a:pPr marL="342900" indent="-342900">
              <a:spcAft>
                <a:spcPts val="800"/>
              </a:spcAft>
              <a:buSzPct val="100000"/>
              <a:buChar char="•"/>
            </a:pPr>
            <a:r>
              <a:rPr lang="en-US" sz="1300" dirty="0">
                <a:solidFill>
                  <a:srgbClr val="1B2B36"/>
                </a:solidFill>
                <a:latin typeface="Calibri" pitchFamily="34" charset="0"/>
                <a:ea typeface="Calibri" pitchFamily="34" charset="-122"/>
                <a:cs typeface="Calibri" pitchFamily="34" charset="-120"/>
              </a:rPr>
              <a:t>Better answers: each topic gets dedicated, careful instructions</a:t>
            </a:r>
            <a:endParaRPr lang="en-US" sz="1300" dirty="0"/>
          </a:p>
          <a:p>
            <a:pPr marL="342900" indent="-342900">
              <a:spcAft>
                <a:spcPts val="800"/>
              </a:spcAft>
              <a:buSzPct val="100000"/>
              <a:buChar char="•"/>
            </a:pPr>
            <a:r>
              <a:rPr lang="en-US" sz="1300" dirty="0">
                <a:solidFill>
                  <a:srgbClr val="1B2B36"/>
                </a:solidFill>
                <a:latin typeface="Calibri" pitchFamily="34" charset="0"/>
                <a:ea typeface="Calibri" pitchFamily="34" charset="-122"/>
                <a:cs typeface="Calibri" pitchFamily="34" charset="-120"/>
              </a:rPr>
              <a:t>Easy to grow: a new skill is just a text file — no code</a:t>
            </a:r>
            <a:endParaRPr lang="en-US" sz="1300" dirty="0"/>
          </a:p>
        </p:txBody>
      </p:sp>
      <p:sp>
        <p:nvSpPr>
          <p:cNvPr id="7" name="Shape 5"/>
          <p:cNvSpPr/>
          <p:nvPr/>
        </p:nvSpPr>
        <p:spPr>
          <a:xfrm>
            <a:off x="4754880" y="1051560"/>
            <a:ext cx="1280160" cy="1051560"/>
          </a:xfrm>
          <a:prstGeom prst="roundRect">
            <a:avLst>
              <a:gd name="adj" fmla="val 6957"/>
            </a:avLst>
          </a:prstGeom>
          <a:solidFill>
            <a:srgbClr val="EEF4F6"/>
          </a:solidFill>
          <a:ln w="12700">
            <a:solidFill>
              <a:srgbClr val="EEF4F6"/>
            </a:solidFill>
            <a:prstDash val="solid"/>
          </a:ln>
        </p:spPr>
      </p:sp>
      <p:sp>
        <p:nvSpPr>
          <p:cNvPr id="8" name="Shape 6"/>
          <p:cNvSpPr/>
          <p:nvPr/>
        </p:nvSpPr>
        <p:spPr>
          <a:xfrm>
            <a:off x="5166360" y="1188720"/>
            <a:ext cx="457200" cy="457200"/>
          </a:xfrm>
          <a:prstGeom prst="ellipse">
            <a:avLst/>
          </a:prstGeom>
          <a:solidFill>
            <a:srgbClr val="C2413B"/>
          </a:solidFill>
          <a:ln w="12700">
            <a:solidFill>
              <a:srgbClr val="C2413B"/>
            </a:solidFill>
            <a:prstDash val="solid"/>
          </a:ln>
        </p:spPr>
      </p:sp>
      <p:pic>
        <p:nvPicPr>
          <p:cNvPr id="9" name="Image 0" descr="preencoded.png">    </p:cNvPr>
          <p:cNvPicPr>
            <a:picLocks noChangeAspect="1"/>
          </p:cNvPicPr>
          <p:nvPr/>
        </p:nvPicPr>
        <p:blipFill>
          <a:blip r:embed="rId1"/>
          <a:stretch>
            <a:fillRect/>
          </a:stretch>
        </p:blipFill>
        <p:spPr>
          <a:xfrm>
            <a:off x="5280660" y="1303020"/>
            <a:ext cx="228600" cy="228600"/>
          </a:xfrm>
          <a:prstGeom prst="rect">
            <a:avLst/>
          </a:prstGeom>
        </p:spPr>
      </p:pic>
      <p:sp>
        <p:nvSpPr>
          <p:cNvPr id="10" name="Text 7"/>
          <p:cNvSpPr txBox="1"/>
          <p:nvPr/>
        </p:nvSpPr>
        <p:spPr>
          <a:xfrm>
            <a:off x="4800600" y="1691640"/>
            <a:ext cx="1188720" cy="347472"/>
          </a:xfrm>
          <a:prstGeom prst="rect">
            <a:avLst/>
          </a:prstGeom>
          <a:noFill/>
          <a:ln/>
        </p:spPr>
        <p:txBody>
          <a:bodyPr wrap="square" lIns="0" tIns="0" rIns="0" bIns="0" rtlCol="0" anchor="ctr"/>
          <a:lstStyle/>
          <a:p>
            <a:pPr algn="ctr" indent="0" marL="0">
              <a:buNone/>
            </a:pPr>
            <a:r>
              <a:rPr lang="en-US" sz="1100" b="1" dirty="0">
                <a:solidFill>
                  <a:srgbClr val="1B2B36"/>
                </a:solidFill>
                <a:latin typeface="Calibri" pitchFamily="34" charset="0"/>
                <a:ea typeface="Calibri" pitchFamily="34" charset="-122"/>
                <a:cs typeface="Calibri" pitchFamily="34" charset="-120"/>
              </a:rPr>
              <a:t>Emergency Triage</a:t>
            </a:r>
            <a:endParaRPr lang="en-US" sz="1100" dirty="0"/>
          </a:p>
        </p:txBody>
      </p:sp>
      <p:sp>
        <p:nvSpPr>
          <p:cNvPr id="11" name="Shape 8"/>
          <p:cNvSpPr/>
          <p:nvPr/>
        </p:nvSpPr>
        <p:spPr>
          <a:xfrm>
            <a:off x="6144768" y="1051560"/>
            <a:ext cx="1280160" cy="1051560"/>
          </a:xfrm>
          <a:prstGeom prst="roundRect">
            <a:avLst>
              <a:gd name="adj" fmla="val 6957"/>
            </a:avLst>
          </a:prstGeom>
          <a:solidFill>
            <a:srgbClr val="EEF4F6"/>
          </a:solidFill>
          <a:ln w="12700">
            <a:solidFill>
              <a:srgbClr val="EEF4F6"/>
            </a:solidFill>
            <a:prstDash val="solid"/>
          </a:ln>
        </p:spPr>
      </p:sp>
      <p:sp>
        <p:nvSpPr>
          <p:cNvPr id="12" name="Shape 9"/>
          <p:cNvSpPr/>
          <p:nvPr/>
        </p:nvSpPr>
        <p:spPr>
          <a:xfrm>
            <a:off x="6556248" y="1188720"/>
            <a:ext cx="457200" cy="457200"/>
          </a:xfrm>
          <a:prstGeom prst="ellipse">
            <a:avLst/>
          </a:prstGeom>
          <a:solidFill>
            <a:srgbClr val="137C86"/>
          </a:solidFill>
          <a:ln w="12700">
            <a:solidFill>
              <a:srgbClr val="137C86"/>
            </a:solidFill>
            <a:prstDash val="solid"/>
          </a:ln>
        </p:spPr>
      </p:sp>
      <p:pic>
        <p:nvPicPr>
          <p:cNvPr id="13" name="Image 1" descr="preencoded.png">    </p:cNvPr>
          <p:cNvPicPr>
            <a:picLocks noChangeAspect="1"/>
          </p:cNvPicPr>
          <p:nvPr/>
        </p:nvPicPr>
        <p:blipFill>
          <a:blip r:embed="rId2"/>
          <a:stretch>
            <a:fillRect/>
          </a:stretch>
        </p:blipFill>
        <p:spPr>
          <a:xfrm>
            <a:off x="6670548" y="1303020"/>
            <a:ext cx="228600" cy="228600"/>
          </a:xfrm>
          <a:prstGeom prst="rect">
            <a:avLst/>
          </a:prstGeom>
        </p:spPr>
      </p:pic>
      <p:sp>
        <p:nvSpPr>
          <p:cNvPr id="14" name="Text 10"/>
          <p:cNvSpPr txBox="1"/>
          <p:nvPr/>
        </p:nvSpPr>
        <p:spPr>
          <a:xfrm>
            <a:off x="6190488" y="1691640"/>
            <a:ext cx="1188720" cy="347472"/>
          </a:xfrm>
          <a:prstGeom prst="rect">
            <a:avLst/>
          </a:prstGeom>
          <a:noFill/>
          <a:ln/>
        </p:spPr>
        <p:txBody>
          <a:bodyPr wrap="square" lIns="0" tIns="0" rIns="0" bIns="0" rtlCol="0" anchor="ctr"/>
          <a:lstStyle/>
          <a:p>
            <a:pPr algn="ctr" indent="0" marL="0">
              <a:buNone/>
            </a:pPr>
            <a:r>
              <a:rPr lang="en-US" sz="1100" b="1" dirty="0">
                <a:solidFill>
                  <a:srgbClr val="1B2B36"/>
                </a:solidFill>
                <a:latin typeface="Calibri" pitchFamily="34" charset="0"/>
                <a:ea typeface="Calibri" pitchFamily="34" charset="-122"/>
                <a:cs typeface="Calibri" pitchFamily="34" charset="-120"/>
              </a:rPr>
              <a:t>Doctor Finder</a:t>
            </a:r>
            <a:endParaRPr lang="en-US" sz="1100" dirty="0"/>
          </a:p>
        </p:txBody>
      </p:sp>
      <p:sp>
        <p:nvSpPr>
          <p:cNvPr id="15" name="Shape 11"/>
          <p:cNvSpPr/>
          <p:nvPr/>
        </p:nvSpPr>
        <p:spPr>
          <a:xfrm>
            <a:off x="7534656" y="1051560"/>
            <a:ext cx="1280160" cy="1051560"/>
          </a:xfrm>
          <a:prstGeom prst="roundRect">
            <a:avLst>
              <a:gd name="adj" fmla="val 6957"/>
            </a:avLst>
          </a:prstGeom>
          <a:solidFill>
            <a:srgbClr val="EEF4F6"/>
          </a:solidFill>
          <a:ln w="12700">
            <a:solidFill>
              <a:srgbClr val="EEF4F6"/>
            </a:solidFill>
            <a:prstDash val="solid"/>
          </a:ln>
        </p:spPr>
      </p:sp>
      <p:sp>
        <p:nvSpPr>
          <p:cNvPr id="16" name="Shape 12"/>
          <p:cNvSpPr/>
          <p:nvPr/>
        </p:nvSpPr>
        <p:spPr>
          <a:xfrm>
            <a:off x="7946136" y="1188720"/>
            <a:ext cx="457200" cy="457200"/>
          </a:xfrm>
          <a:prstGeom prst="ellipse">
            <a:avLst/>
          </a:prstGeom>
          <a:solidFill>
            <a:srgbClr val="137C86"/>
          </a:solidFill>
          <a:ln w="12700">
            <a:solidFill>
              <a:srgbClr val="137C86"/>
            </a:solidFill>
            <a:prstDash val="solid"/>
          </a:ln>
        </p:spPr>
      </p:sp>
      <p:pic>
        <p:nvPicPr>
          <p:cNvPr id="17" name="Image 2" descr="preencoded.png">    </p:cNvPr>
          <p:cNvPicPr>
            <a:picLocks noChangeAspect="1"/>
          </p:cNvPicPr>
          <p:nvPr/>
        </p:nvPicPr>
        <p:blipFill>
          <a:blip r:embed="rId3"/>
          <a:stretch>
            <a:fillRect/>
          </a:stretch>
        </p:blipFill>
        <p:spPr>
          <a:xfrm>
            <a:off x="8060436" y="1303020"/>
            <a:ext cx="228600" cy="228600"/>
          </a:xfrm>
          <a:prstGeom prst="rect">
            <a:avLst/>
          </a:prstGeom>
        </p:spPr>
      </p:pic>
      <p:sp>
        <p:nvSpPr>
          <p:cNvPr id="18" name="Text 13"/>
          <p:cNvSpPr txBox="1"/>
          <p:nvPr/>
        </p:nvSpPr>
        <p:spPr>
          <a:xfrm>
            <a:off x="7580376" y="1691640"/>
            <a:ext cx="1188720" cy="347472"/>
          </a:xfrm>
          <a:prstGeom prst="rect">
            <a:avLst/>
          </a:prstGeom>
          <a:noFill/>
          <a:ln/>
        </p:spPr>
        <p:txBody>
          <a:bodyPr wrap="square" lIns="0" tIns="0" rIns="0" bIns="0" rtlCol="0" anchor="ctr"/>
          <a:lstStyle/>
          <a:p>
            <a:pPr algn="ctr" indent="0" marL="0">
              <a:buNone/>
            </a:pPr>
            <a:r>
              <a:rPr lang="en-US" sz="1100" b="1" dirty="0">
                <a:solidFill>
                  <a:srgbClr val="1B2B36"/>
                </a:solidFill>
                <a:latin typeface="Calibri" pitchFamily="34" charset="0"/>
                <a:ea typeface="Calibri" pitchFamily="34" charset="-122"/>
                <a:cs typeface="Calibri" pitchFamily="34" charset="-120"/>
              </a:rPr>
              <a:t>Egyptian Arabic</a:t>
            </a:r>
            <a:endParaRPr lang="en-US" sz="1100" dirty="0"/>
          </a:p>
        </p:txBody>
      </p:sp>
      <p:sp>
        <p:nvSpPr>
          <p:cNvPr id="19" name="Shape 14"/>
          <p:cNvSpPr/>
          <p:nvPr/>
        </p:nvSpPr>
        <p:spPr>
          <a:xfrm>
            <a:off x="4754880" y="2212848"/>
            <a:ext cx="1280160" cy="1051560"/>
          </a:xfrm>
          <a:prstGeom prst="roundRect">
            <a:avLst>
              <a:gd name="adj" fmla="val 6957"/>
            </a:avLst>
          </a:prstGeom>
          <a:solidFill>
            <a:srgbClr val="EEF4F6"/>
          </a:solidFill>
          <a:ln w="12700">
            <a:solidFill>
              <a:srgbClr val="EEF4F6"/>
            </a:solidFill>
            <a:prstDash val="solid"/>
          </a:ln>
        </p:spPr>
      </p:sp>
      <p:sp>
        <p:nvSpPr>
          <p:cNvPr id="20" name="Shape 15"/>
          <p:cNvSpPr/>
          <p:nvPr/>
        </p:nvSpPr>
        <p:spPr>
          <a:xfrm>
            <a:off x="5166360" y="2350008"/>
            <a:ext cx="457200" cy="457200"/>
          </a:xfrm>
          <a:prstGeom prst="ellipse">
            <a:avLst/>
          </a:prstGeom>
          <a:solidFill>
            <a:srgbClr val="137C86"/>
          </a:solidFill>
          <a:ln w="12700">
            <a:solidFill>
              <a:srgbClr val="137C86"/>
            </a:solidFill>
            <a:prstDash val="solid"/>
          </a:ln>
        </p:spPr>
      </p:sp>
      <p:pic>
        <p:nvPicPr>
          <p:cNvPr id="21" name="Image 3" descr="preencoded.png">    </p:cNvPr>
          <p:cNvPicPr>
            <a:picLocks noChangeAspect="1"/>
          </p:cNvPicPr>
          <p:nvPr/>
        </p:nvPicPr>
        <p:blipFill>
          <a:blip r:embed="rId4"/>
          <a:stretch>
            <a:fillRect/>
          </a:stretch>
        </p:blipFill>
        <p:spPr>
          <a:xfrm>
            <a:off x="5280660" y="2464308"/>
            <a:ext cx="228600" cy="228600"/>
          </a:xfrm>
          <a:prstGeom prst="rect">
            <a:avLst/>
          </a:prstGeom>
        </p:spPr>
      </p:pic>
      <p:sp>
        <p:nvSpPr>
          <p:cNvPr id="22" name="Text 16"/>
          <p:cNvSpPr txBox="1"/>
          <p:nvPr/>
        </p:nvSpPr>
        <p:spPr>
          <a:xfrm>
            <a:off x="4800600" y="2852928"/>
            <a:ext cx="1188720" cy="347472"/>
          </a:xfrm>
          <a:prstGeom prst="rect">
            <a:avLst/>
          </a:prstGeom>
          <a:noFill/>
          <a:ln/>
        </p:spPr>
        <p:txBody>
          <a:bodyPr wrap="square" lIns="0" tIns="0" rIns="0" bIns="0" rtlCol="0" anchor="ctr"/>
          <a:lstStyle/>
          <a:p>
            <a:pPr algn="ctr" indent="0" marL="0">
              <a:buNone/>
            </a:pPr>
            <a:r>
              <a:rPr lang="en-US" sz="1100" b="1" dirty="0">
                <a:solidFill>
                  <a:srgbClr val="1B2B36"/>
                </a:solidFill>
                <a:latin typeface="Calibri" pitchFamily="34" charset="0"/>
                <a:ea typeface="Calibri" pitchFamily="34" charset="-122"/>
                <a:cs typeface="Calibri" pitchFamily="34" charset="-120"/>
              </a:rPr>
              <a:t>Medication Info</a:t>
            </a:r>
            <a:endParaRPr lang="en-US" sz="1100" dirty="0"/>
          </a:p>
        </p:txBody>
      </p:sp>
      <p:sp>
        <p:nvSpPr>
          <p:cNvPr id="23" name="Shape 17"/>
          <p:cNvSpPr/>
          <p:nvPr/>
        </p:nvSpPr>
        <p:spPr>
          <a:xfrm>
            <a:off x="6144768" y="2212848"/>
            <a:ext cx="1280160" cy="1051560"/>
          </a:xfrm>
          <a:prstGeom prst="roundRect">
            <a:avLst>
              <a:gd name="adj" fmla="val 6957"/>
            </a:avLst>
          </a:prstGeom>
          <a:solidFill>
            <a:srgbClr val="EEF4F6"/>
          </a:solidFill>
          <a:ln w="12700">
            <a:solidFill>
              <a:srgbClr val="EEF4F6"/>
            </a:solidFill>
            <a:prstDash val="solid"/>
          </a:ln>
        </p:spPr>
      </p:sp>
      <p:sp>
        <p:nvSpPr>
          <p:cNvPr id="24" name="Shape 18"/>
          <p:cNvSpPr/>
          <p:nvPr/>
        </p:nvSpPr>
        <p:spPr>
          <a:xfrm>
            <a:off x="6556248" y="2350008"/>
            <a:ext cx="457200" cy="457200"/>
          </a:xfrm>
          <a:prstGeom prst="ellipse">
            <a:avLst/>
          </a:prstGeom>
          <a:solidFill>
            <a:srgbClr val="137C86"/>
          </a:solidFill>
          <a:ln w="12700">
            <a:solidFill>
              <a:srgbClr val="137C86"/>
            </a:solidFill>
            <a:prstDash val="solid"/>
          </a:ln>
        </p:spPr>
      </p:sp>
      <p:pic>
        <p:nvPicPr>
          <p:cNvPr id="25" name="Image 4" descr="preencoded.png">    </p:cNvPr>
          <p:cNvPicPr>
            <a:picLocks noChangeAspect="1"/>
          </p:cNvPicPr>
          <p:nvPr/>
        </p:nvPicPr>
        <p:blipFill>
          <a:blip r:embed="rId5"/>
          <a:stretch>
            <a:fillRect/>
          </a:stretch>
        </p:blipFill>
        <p:spPr>
          <a:xfrm>
            <a:off x="6670548" y="2464308"/>
            <a:ext cx="228600" cy="228600"/>
          </a:xfrm>
          <a:prstGeom prst="rect">
            <a:avLst/>
          </a:prstGeom>
        </p:spPr>
      </p:pic>
      <p:sp>
        <p:nvSpPr>
          <p:cNvPr id="26" name="Text 19"/>
          <p:cNvSpPr txBox="1"/>
          <p:nvPr/>
        </p:nvSpPr>
        <p:spPr>
          <a:xfrm>
            <a:off x="6190488" y="2852928"/>
            <a:ext cx="1188720" cy="347472"/>
          </a:xfrm>
          <a:prstGeom prst="rect">
            <a:avLst/>
          </a:prstGeom>
          <a:noFill/>
          <a:ln/>
        </p:spPr>
        <p:txBody>
          <a:bodyPr wrap="square" lIns="0" tIns="0" rIns="0" bIns="0" rtlCol="0" anchor="ctr"/>
          <a:lstStyle/>
          <a:p>
            <a:pPr algn="ctr" indent="0" marL="0">
              <a:buNone/>
            </a:pPr>
            <a:r>
              <a:rPr lang="en-US" sz="1100" b="1" dirty="0">
                <a:solidFill>
                  <a:srgbClr val="1B2B36"/>
                </a:solidFill>
                <a:latin typeface="Calibri" pitchFamily="34" charset="0"/>
                <a:ea typeface="Calibri" pitchFamily="34" charset="-122"/>
                <a:cs typeface="Calibri" pitchFamily="34" charset="-120"/>
              </a:rPr>
              <a:t>Lab Results</a:t>
            </a:r>
            <a:endParaRPr lang="en-US" sz="1100" dirty="0"/>
          </a:p>
        </p:txBody>
      </p:sp>
      <p:sp>
        <p:nvSpPr>
          <p:cNvPr id="27" name="Shape 20"/>
          <p:cNvSpPr/>
          <p:nvPr/>
        </p:nvSpPr>
        <p:spPr>
          <a:xfrm>
            <a:off x="7534656" y="2212848"/>
            <a:ext cx="1280160" cy="1051560"/>
          </a:xfrm>
          <a:prstGeom prst="roundRect">
            <a:avLst>
              <a:gd name="adj" fmla="val 6957"/>
            </a:avLst>
          </a:prstGeom>
          <a:solidFill>
            <a:srgbClr val="EEF4F6"/>
          </a:solidFill>
          <a:ln w="12700">
            <a:solidFill>
              <a:srgbClr val="EEF4F6"/>
            </a:solidFill>
            <a:prstDash val="solid"/>
          </a:ln>
        </p:spPr>
      </p:sp>
      <p:sp>
        <p:nvSpPr>
          <p:cNvPr id="28" name="Shape 21"/>
          <p:cNvSpPr/>
          <p:nvPr/>
        </p:nvSpPr>
        <p:spPr>
          <a:xfrm>
            <a:off x="7946136" y="2350008"/>
            <a:ext cx="457200" cy="457200"/>
          </a:xfrm>
          <a:prstGeom prst="ellipse">
            <a:avLst/>
          </a:prstGeom>
          <a:solidFill>
            <a:srgbClr val="137C86"/>
          </a:solidFill>
          <a:ln w="12700">
            <a:solidFill>
              <a:srgbClr val="137C86"/>
            </a:solidFill>
            <a:prstDash val="solid"/>
          </a:ln>
        </p:spPr>
      </p:sp>
      <p:pic>
        <p:nvPicPr>
          <p:cNvPr id="29" name="Image 5" descr="preencoded.png">    </p:cNvPr>
          <p:cNvPicPr>
            <a:picLocks noChangeAspect="1"/>
          </p:cNvPicPr>
          <p:nvPr/>
        </p:nvPicPr>
        <p:blipFill>
          <a:blip r:embed="rId6"/>
          <a:stretch>
            <a:fillRect/>
          </a:stretch>
        </p:blipFill>
        <p:spPr>
          <a:xfrm>
            <a:off x="8060436" y="2464308"/>
            <a:ext cx="228600" cy="228600"/>
          </a:xfrm>
          <a:prstGeom prst="rect">
            <a:avLst/>
          </a:prstGeom>
        </p:spPr>
      </p:pic>
      <p:sp>
        <p:nvSpPr>
          <p:cNvPr id="30" name="Text 22"/>
          <p:cNvSpPr txBox="1"/>
          <p:nvPr/>
        </p:nvSpPr>
        <p:spPr>
          <a:xfrm>
            <a:off x="7580376" y="2852928"/>
            <a:ext cx="1188720" cy="347472"/>
          </a:xfrm>
          <a:prstGeom prst="rect">
            <a:avLst/>
          </a:prstGeom>
          <a:noFill/>
          <a:ln/>
        </p:spPr>
        <p:txBody>
          <a:bodyPr wrap="square" lIns="0" tIns="0" rIns="0" bIns="0" rtlCol="0" anchor="ctr"/>
          <a:lstStyle/>
          <a:p>
            <a:pPr algn="ctr" indent="0" marL="0">
              <a:buNone/>
            </a:pPr>
            <a:r>
              <a:rPr lang="en-US" sz="1100" b="1" dirty="0">
                <a:solidFill>
                  <a:srgbClr val="1B2B36"/>
                </a:solidFill>
                <a:latin typeface="Calibri" pitchFamily="34" charset="0"/>
                <a:ea typeface="Calibri" pitchFamily="34" charset="-122"/>
                <a:cs typeface="Calibri" pitchFamily="34" charset="-120"/>
              </a:rPr>
              <a:t>Pediatric Care</a:t>
            </a:r>
            <a:endParaRPr lang="en-US" sz="1100" dirty="0"/>
          </a:p>
        </p:txBody>
      </p:sp>
      <p:sp>
        <p:nvSpPr>
          <p:cNvPr id="31" name="Shape 23"/>
          <p:cNvSpPr/>
          <p:nvPr/>
        </p:nvSpPr>
        <p:spPr>
          <a:xfrm>
            <a:off x="4754880" y="3374136"/>
            <a:ext cx="1280160" cy="1051560"/>
          </a:xfrm>
          <a:prstGeom prst="roundRect">
            <a:avLst>
              <a:gd name="adj" fmla="val 6957"/>
            </a:avLst>
          </a:prstGeom>
          <a:solidFill>
            <a:srgbClr val="EEF4F6"/>
          </a:solidFill>
          <a:ln w="12700">
            <a:solidFill>
              <a:srgbClr val="EEF4F6"/>
            </a:solidFill>
            <a:prstDash val="solid"/>
          </a:ln>
        </p:spPr>
      </p:sp>
      <p:sp>
        <p:nvSpPr>
          <p:cNvPr id="32" name="Shape 24"/>
          <p:cNvSpPr/>
          <p:nvPr/>
        </p:nvSpPr>
        <p:spPr>
          <a:xfrm>
            <a:off x="5166360" y="3511296"/>
            <a:ext cx="457200" cy="457200"/>
          </a:xfrm>
          <a:prstGeom prst="ellipse">
            <a:avLst/>
          </a:prstGeom>
          <a:solidFill>
            <a:srgbClr val="137C86"/>
          </a:solidFill>
          <a:ln w="12700">
            <a:solidFill>
              <a:srgbClr val="137C86"/>
            </a:solidFill>
            <a:prstDash val="solid"/>
          </a:ln>
        </p:spPr>
      </p:sp>
      <p:pic>
        <p:nvPicPr>
          <p:cNvPr id="33" name="Image 6" descr="preencoded.png">    </p:cNvPr>
          <p:cNvPicPr>
            <a:picLocks noChangeAspect="1"/>
          </p:cNvPicPr>
          <p:nvPr/>
        </p:nvPicPr>
        <p:blipFill>
          <a:blip r:embed="rId7"/>
          <a:stretch>
            <a:fillRect/>
          </a:stretch>
        </p:blipFill>
        <p:spPr>
          <a:xfrm>
            <a:off x="5280660" y="3625596"/>
            <a:ext cx="228600" cy="228600"/>
          </a:xfrm>
          <a:prstGeom prst="rect">
            <a:avLst/>
          </a:prstGeom>
        </p:spPr>
      </p:pic>
      <p:sp>
        <p:nvSpPr>
          <p:cNvPr id="34" name="Text 25"/>
          <p:cNvSpPr txBox="1"/>
          <p:nvPr/>
        </p:nvSpPr>
        <p:spPr>
          <a:xfrm>
            <a:off x="4800600" y="4014216"/>
            <a:ext cx="1188720" cy="347472"/>
          </a:xfrm>
          <a:prstGeom prst="rect">
            <a:avLst/>
          </a:prstGeom>
          <a:noFill/>
          <a:ln/>
        </p:spPr>
        <p:txBody>
          <a:bodyPr wrap="square" lIns="0" tIns="0" rIns="0" bIns="0" rtlCol="0" anchor="ctr"/>
          <a:lstStyle/>
          <a:p>
            <a:pPr algn="ctr" indent="0" marL="0">
              <a:buNone/>
            </a:pPr>
            <a:r>
              <a:rPr lang="en-US" sz="1100" b="1" dirty="0">
                <a:solidFill>
                  <a:srgbClr val="1B2B36"/>
                </a:solidFill>
                <a:latin typeface="Calibri" pitchFamily="34" charset="0"/>
                <a:ea typeface="Calibri" pitchFamily="34" charset="-122"/>
                <a:cs typeface="Calibri" pitchFamily="34" charset="-120"/>
              </a:rPr>
              <a:t>Mental Health</a:t>
            </a:r>
            <a:endParaRPr lang="en-US" sz="1100" dirty="0"/>
          </a:p>
        </p:txBody>
      </p:sp>
      <p:sp>
        <p:nvSpPr>
          <p:cNvPr id="35" name="Shape 26"/>
          <p:cNvSpPr/>
          <p:nvPr/>
        </p:nvSpPr>
        <p:spPr>
          <a:xfrm>
            <a:off x="6144768" y="3374136"/>
            <a:ext cx="2670048" cy="1051560"/>
          </a:xfrm>
          <a:prstGeom prst="roundRect">
            <a:avLst>
              <a:gd name="adj" fmla="val 6957"/>
            </a:avLst>
          </a:prstGeom>
          <a:solidFill>
            <a:srgbClr val="FFFFFF"/>
          </a:solidFill>
          <a:ln w="12700">
            <a:solidFill>
              <a:srgbClr val="137C86"/>
            </a:solidFill>
            <a:prstDash val="dash"/>
          </a:ln>
        </p:spPr>
      </p:sp>
      <p:sp>
        <p:nvSpPr>
          <p:cNvPr id="36" name="Text 27"/>
          <p:cNvSpPr txBox="1"/>
          <p:nvPr/>
        </p:nvSpPr>
        <p:spPr>
          <a:xfrm>
            <a:off x="6236208" y="3374136"/>
            <a:ext cx="2487168" cy="1051560"/>
          </a:xfrm>
          <a:prstGeom prst="rect">
            <a:avLst/>
          </a:prstGeom>
          <a:noFill/>
          <a:ln/>
        </p:spPr>
        <p:txBody>
          <a:bodyPr wrap="square" lIns="0" tIns="0" rIns="0" bIns="0" rtlCol="0" anchor="ctr"/>
          <a:lstStyle/>
          <a:p>
            <a:pPr algn="ctr" indent="0" marL="0">
              <a:buNone/>
            </a:pPr>
            <a:r>
              <a:rPr lang="en-US" sz="1200" i="1" dirty="0">
                <a:solidFill>
                  <a:srgbClr val="137C86"/>
                </a:solidFill>
                <a:latin typeface="Calibri" pitchFamily="34" charset="0"/>
                <a:ea typeface="Calibri" pitchFamily="34" charset="-122"/>
                <a:cs typeface="Calibri" pitchFamily="34" charset="-120"/>
              </a:rPr>
              <a:t>+ add a skill = add one SKILL.md file</a:t>
            </a:r>
            <a:endParaRPr lang="en-US" sz="1200" dirty="0"/>
          </a:p>
        </p:txBody>
      </p:sp>
      <p:sp>
        <p:nvSpPr>
          <p:cNvPr id="37" name="Text 28"/>
          <p:cNvSpPr txBox="1"/>
          <p:nvPr/>
        </p:nvSpPr>
        <p:spPr>
          <a:xfrm>
            <a:off x="8321040" y="4800600"/>
            <a:ext cx="457200" cy="228600"/>
          </a:xfrm>
          <a:prstGeom prst="rect">
            <a:avLst/>
          </a:prstGeom>
          <a:noFill/>
          <a:ln/>
        </p:spPr>
        <p:txBody>
          <a:bodyPr wrap="square" lIns="0" tIns="0" rIns="0" bIns="0" rtlCol="0" anchor="ctr"/>
          <a:lstStyle/>
          <a:p>
            <a:pPr algn="r" indent="0" marL="0">
              <a:buNone/>
            </a:pPr>
            <a:r>
              <a:rPr lang="en-US" sz="900" dirty="0">
                <a:solidFill>
                  <a:srgbClr val="5B6B75"/>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000" b="1" spc="100" kern="0" dirty="0">
                <a:solidFill>
                  <a:srgbClr val="137C86"/>
                </a:solidFill>
                <a:latin typeface="Calibri" pitchFamily="34" charset="0"/>
                <a:ea typeface="Calibri" pitchFamily="34" charset="-122"/>
                <a:cs typeface="Calibri" pitchFamily="34" charset="-120"/>
              </a:rPr>
              <a:t>ADDITION 2 · MCP</a:t>
            </a:r>
            <a:endParaRPr lang="en-US" sz="1000" dirty="0"/>
          </a:p>
        </p:txBody>
      </p:sp>
      <p:sp>
        <p:nvSpPr>
          <p:cNvPr id="3" name="Text 1"/>
          <p:cNvSpPr txBox="1"/>
          <p:nvPr/>
        </p:nvSpPr>
        <p:spPr>
          <a:xfrm>
            <a:off x="457200" y="530352"/>
            <a:ext cx="8229600" cy="457200"/>
          </a:xfrm>
          <a:prstGeom prst="rect">
            <a:avLst/>
          </a:prstGeom>
          <a:noFill/>
          <a:ln/>
        </p:spPr>
        <p:txBody>
          <a:bodyPr wrap="square" lIns="0" tIns="0" rIns="0" bIns="0" rtlCol="0" anchor="ctr"/>
          <a:lstStyle/>
          <a:p>
            <a:pPr indent="0" marL="0">
              <a:buNone/>
            </a:pPr>
            <a:r>
              <a:rPr lang="en-US" sz="2600" b="1" dirty="0">
                <a:solidFill>
                  <a:srgbClr val="1B2B36"/>
                </a:solidFill>
                <a:latin typeface="Cambria" pitchFamily="34" charset="0"/>
                <a:ea typeface="Cambria" pitchFamily="34" charset="-122"/>
                <a:cs typeface="Cambria" pitchFamily="34" charset="-120"/>
              </a:rPr>
              <a:t>Speaking the standard language of AI tools</a:t>
            </a:r>
            <a:endParaRPr lang="en-US" sz="2600" dirty="0"/>
          </a:p>
        </p:txBody>
      </p:sp>
      <p:sp>
        <p:nvSpPr>
          <p:cNvPr id="4" name="Text 2"/>
          <p:cNvSpPr txBox="1"/>
          <p:nvPr/>
        </p:nvSpPr>
        <p:spPr>
          <a:xfrm>
            <a:off x="457200" y="1051560"/>
            <a:ext cx="8229600" cy="365760"/>
          </a:xfrm>
          <a:prstGeom prst="rect">
            <a:avLst/>
          </a:prstGeom>
          <a:noFill/>
          <a:ln/>
        </p:spPr>
        <p:txBody>
          <a:bodyPr wrap="square" lIns="0" tIns="0" rIns="0" bIns="0" rtlCol="0" anchor="ctr"/>
          <a:lstStyle/>
          <a:p>
            <a:pPr indent="0" marL="0">
              <a:buNone/>
            </a:pPr>
            <a:r>
              <a:rPr lang="en-US" sz="1300" dirty="0">
                <a:solidFill>
                  <a:srgbClr val="5B6B75"/>
                </a:solidFill>
                <a:latin typeface="Calibri" pitchFamily="34" charset="0"/>
                <a:ea typeface="Calibri" pitchFamily="34" charset="-122"/>
                <a:cs typeface="Calibri" pitchFamily="34" charset="-120"/>
              </a:rPr>
              <a:t>MCP (Model Context Protocol) is the “USB port” for AI apps. Tabeeby now works with it in both directions.</a:t>
            </a:r>
            <a:endParaRPr lang="en-US" sz="1300" dirty="0"/>
          </a:p>
        </p:txBody>
      </p:sp>
      <p:sp>
        <p:nvSpPr>
          <p:cNvPr id="5" name="Shape 3"/>
          <p:cNvSpPr/>
          <p:nvPr/>
        </p:nvSpPr>
        <p:spPr>
          <a:xfrm>
            <a:off x="457200" y="1691640"/>
            <a:ext cx="2103120" cy="685800"/>
          </a:xfrm>
          <a:prstGeom prst="roundRect">
            <a:avLst>
              <a:gd name="adj" fmla="val 10667"/>
            </a:avLst>
          </a:prstGeom>
          <a:solidFill>
            <a:srgbClr val="EEF4F6"/>
          </a:solidFill>
          <a:ln w="12700">
            <a:solidFill>
              <a:srgbClr val="EEF4F6"/>
            </a:solidFill>
            <a:prstDash val="solid"/>
          </a:ln>
        </p:spPr>
      </p:sp>
      <p:sp>
        <p:nvSpPr>
          <p:cNvPr id="6" name="Shape 4"/>
          <p:cNvSpPr/>
          <p:nvPr/>
        </p:nvSpPr>
        <p:spPr>
          <a:xfrm>
            <a:off x="566928" y="1819656"/>
            <a:ext cx="429768" cy="429768"/>
          </a:xfrm>
          <a:prstGeom prst="ellipse">
            <a:avLst/>
          </a:prstGeom>
          <a:solidFill>
            <a:srgbClr val="1BBF9C"/>
          </a:solidFill>
          <a:ln w="12700">
            <a:solidFill>
              <a:srgbClr val="1BBF9C"/>
            </a:solidFill>
            <a:prstDash val="solid"/>
          </a:ln>
        </p:spPr>
      </p:sp>
      <p:pic>
        <p:nvPicPr>
          <p:cNvPr id="7" name="Image 0" descr="preencoded.png">    </p:cNvPr>
          <p:cNvPicPr>
            <a:picLocks noChangeAspect="1"/>
          </p:cNvPicPr>
          <p:nvPr/>
        </p:nvPicPr>
        <p:blipFill>
          <a:blip r:embed="rId1"/>
          <a:stretch>
            <a:fillRect/>
          </a:stretch>
        </p:blipFill>
        <p:spPr>
          <a:xfrm>
            <a:off x="674370" y="1927098"/>
            <a:ext cx="214884" cy="214884"/>
          </a:xfrm>
          <a:prstGeom prst="rect">
            <a:avLst/>
          </a:prstGeom>
        </p:spPr>
      </p:pic>
      <p:sp>
        <p:nvSpPr>
          <p:cNvPr id="8" name="Text 5"/>
          <p:cNvSpPr txBox="1"/>
          <p:nvPr/>
        </p:nvSpPr>
        <p:spPr>
          <a:xfrm>
            <a:off x="1097280" y="1691640"/>
            <a:ext cx="1417320" cy="685800"/>
          </a:xfrm>
          <a:prstGeom prst="rect">
            <a:avLst/>
          </a:prstGeom>
          <a:noFill/>
          <a:ln/>
        </p:spPr>
        <p:txBody>
          <a:bodyPr wrap="square" lIns="0" tIns="0" rIns="0" bIns="0" rtlCol="0" anchor="ctr"/>
          <a:lstStyle/>
          <a:p>
            <a:pPr indent="0" marL="0">
              <a:buNone/>
            </a:pPr>
            <a:r>
              <a:rPr lang="en-US" sz="1200" b="1" dirty="0">
                <a:solidFill>
                  <a:srgbClr val="1B2B36"/>
                </a:solidFill>
                <a:latin typeface="Calibri" pitchFamily="34" charset="0"/>
                <a:ea typeface="Calibri" pitchFamily="34" charset="-122"/>
                <a:cs typeface="Calibri" pitchFamily="34" charset="-120"/>
              </a:rPr>
              <a:t>Claude Desktop</a:t>
            </a:r>
            <a:endParaRPr lang="en-US" sz="1200" dirty="0"/>
          </a:p>
        </p:txBody>
      </p:sp>
      <p:sp>
        <p:nvSpPr>
          <p:cNvPr id="9" name="Shape 6"/>
          <p:cNvSpPr/>
          <p:nvPr/>
        </p:nvSpPr>
        <p:spPr>
          <a:xfrm>
            <a:off x="457200" y="2560320"/>
            <a:ext cx="2103120" cy="685800"/>
          </a:xfrm>
          <a:prstGeom prst="roundRect">
            <a:avLst>
              <a:gd name="adj" fmla="val 10667"/>
            </a:avLst>
          </a:prstGeom>
          <a:solidFill>
            <a:srgbClr val="EEF4F6"/>
          </a:solidFill>
          <a:ln w="12700">
            <a:solidFill>
              <a:srgbClr val="EEF4F6"/>
            </a:solidFill>
            <a:prstDash val="solid"/>
          </a:ln>
        </p:spPr>
      </p:sp>
      <p:sp>
        <p:nvSpPr>
          <p:cNvPr id="10" name="Shape 7"/>
          <p:cNvSpPr/>
          <p:nvPr/>
        </p:nvSpPr>
        <p:spPr>
          <a:xfrm>
            <a:off x="566928" y="2688336"/>
            <a:ext cx="429768" cy="429768"/>
          </a:xfrm>
          <a:prstGeom prst="ellipse">
            <a:avLst/>
          </a:prstGeom>
          <a:solidFill>
            <a:srgbClr val="1BBF9C"/>
          </a:solidFill>
          <a:ln w="12700">
            <a:solidFill>
              <a:srgbClr val="1BBF9C"/>
            </a:solidFill>
            <a:prstDash val="solid"/>
          </a:ln>
        </p:spPr>
      </p:sp>
      <p:pic>
        <p:nvPicPr>
          <p:cNvPr id="11" name="Image 1" descr="preencoded.png">    </p:cNvPr>
          <p:cNvPicPr>
            <a:picLocks noChangeAspect="1"/>
          </p:cNvPicPr>
          <p:nvPr/>
        </p:nvPicPr>
        <p:blipFill>
          <a:blip r:embed="rId2"/>
          <a:stretch>
            <a:fillRect/>
          </a:stretch>
        </p:blipFill>
        <p:spPr>
          <a:xfrm>
            <a:off x="674370" y="2795778"/>
            <a:ext cx="214884" cy="214884"/>
          </a:xfrm>
          <a:prstGeom prst="rect">
            <a:avLst/>
          </a:prstGeom>
        </p:spPr>
      </p:pic>
      <p:sp>
        <p:nvSpPr>
          <p:cNvPr id="12" name="Text 8"/>
          <p:cNvSpPr txBox="1"/>
          <p:nvPr/>
        </p:nvSpPr>
        <p:spPr>
          <a:xfrm>
            <a:off x="1097280" y="2560320"/>
            <a:ext cx="1417320" cy="685800"/>
          </a:xfrm>
          <a:prstGeom prst="rect">
            <a:avLst/>
          </a:prstGeom>
          <a:noFill/>
          <a:ln/>
        </p:spPr>
        <p:txBody>
          <a:bodyPr wrap="square" lIns="0" tIns="0" rIns="0" bIns="0" rtlCol="0" anchor="ctr"/>
          <a:lstStyle/>
          <a:p>
            <a:pPr indent="0" marL="0">
              <a:buNone/>
            </a:pPr>
            <a:r>
              <a:rPr lang="en-US" sz="1200" b="1" dirty="0">
                <a:solidFill>
                  <a:srgbClr val="1B2B36"/>
                </a:solidFill>
                <a:latin typeface="Calibri" pitchFamily="34" charset="0"/>
                <a:ea typeface="Calibri" pitchFamily="34" charset="-122"/>
                <a:cs typeface="Calibri" pitchFamily="34" charset="-120"/>
              </a:rPr>
              <a:t>Cursor</a:t>
            </a:r>
            <a:endParaRPr lang="en-US" sz="1200" dirty="0"/>
          </a:p>
        </p:txBody>
      </p:sp>
      <p:sp>
        <p:nvSpPr>
          <p:cNvPr id="13" name="Shape 9"/>
          <p:cNvSpPr/>
          <p:nvPr/>
        </p:nvSpPr>
        <p:spPr>
          <a:xfrm>
            <a:off x="457200" y="3429000"/>
            <a:ext cx="2103120" cy="685800"/>
          </a:xfrm>
          <a:prstGeom prst="roundRect">
            <a:avLst>
              <a:gd name="adj" fmla="val 10667"/>
            </a:avLst>
          </a:prstGeom>
          <a:solidFill>
            <a:srgbClr val="EEF4F6"/>
          </a:solidFill>
          <a:ln w="12700">
            <a:solidFill>
              <a:srgbClr val="EEF4F6"/>
            </a:solidFill>
            <a:prstDash val="solid"/>
          </a:ln>
        </p:spPr>
      </p:sp>
      <p:sp>
        <p:nvSpPr>
          <p:cNvPr id="14" name="Shape 10"/>
          <p:cNvSpPr/>
          <p:nvPr/>
        </p:nvSpPr>
        <p:spPr>
          <a:xfrm>
            <a:off x="566928" y="3557016"/>
            <a:ext cx="429768" cy="429768"/>
          </a:xfrm>
          <a:prstGeom prst="ellipse">
            <a:avLst/>
          </a:prstGeom>
          <a:solidFill>
            <a:srgbClr val="1BBF9C"/>
          </a:solidFill>
          <a:ln w="12700">
            <a:solidFill>
              <a:srgbClr val="1BBF9C"/>
            </a:solidFill>
            <a:prstDash val="solid"/>
          </a:ln>
        </p:spPr>
      </p:sp>
      <p:pic>
        <p:nvPicPr>
          <p:cNvPr id="15" name="Image 2" descr="preencoded.png">    </p:cNvPr>
          <p:cNvPicPr>
            <a:picLocks noChangeAspect="1"/>
          </p:cNvPicPr>
          <p:nvPr/>
        </p:nvPicPr>
        <p:blipFill>
          <a:blip r:embed="rId3"/>
          <a:stretch>
            <a:fillRect/>
          </a:stretch>
        </p:blipFill>
        <p:spPr>
          <a:xfrm>
            <a:off x="674370" y="3664458"/>
            <a:ext cx="214884" cy="214884"/>
          </a:xfrm>
          <a:prstGeom prst="rect">
            <a:avLst/>
          </a:prstGeom>
        </p:spPr>
      </p:pic>
      <p:sp>
        <p:nvSpPr>
          <p:cNvPr id="16" name="Text 11"/>
          <p:cNvSpPr txBox="1"/>
          <p:nvPr/>
        </p:nvSpPr>
        <p:spPr>
          <a:xfrm>
            <a:off x="1097280" y="3429000"/>
            <a:ext cx="1417320" cy="685800"/>
          </a:xfrm>
          <a:prstGeom prst="rect">
            <a:avLst/>
          </a:prstGeom>
          <a:noFill/>
          <a:ln/>
        </p:spPr>
        <p:txBody>
          <a:bodyPr wrap="square" lIns="0" tIns="0" rIns="0" bIns="0" rtlCol="0" anchor="ctr"/>
          <a:lstStyle/>
          <a:p>
            <a:pPr indent="0" marL="0">
              <a:buNone/>
            </a:pPr>
            <a:r>
              <a:rPr lang="en-US" sz="1200" b="1" dirty="0">
                <a:solidFill>
                  <a:srgbClr val="1B2B36"/>
                </a:solidFill>
                <a:latin typeface="Calibri" pitchFamily="34" charset="0"/>
                <a:ea typeface="Calibri" pitchFamily="34" charset="-122"/>
                <a:cs typeface="Calibri" pitchFamily="34" charset="-120"/>
              </a:rPr>
              <a:t>Any MCP client</a:t>
            </a:r>
            <a:endParaRPr lang="en-US" sz="1200" dirty="0"/>
          </a:p>
        </p:txBody>
      </p:sp>
      <p:sp>
        <p:nvSpPr>
          <p:cNvPr id="17" name="Shape 12"/>
          <p:cNvSpPr/>
          <p:nvPr/>
        </p:nvSpPr>
        <p:spPr>
          <a:xfrm>
            <a:off x="3520440" y="1691640"/>
            <a:ext cx="2103120" cy="2423160"/>
          </a:xfrm>
          <a:prstGeom prst="roundRect">
            <a:avLst>
              <a:gd name="adj" fmla="val 4348"/>
            </a:avLst>
          </a:prstGeom>
          <a:solidFill>
            <a:srgbClr val="0B2A3C"/>
          </a:solidFill>
          <a:ln w="12700">
            <a:solidFill>
              <a:srgbClr val="0B2A3C"/>
            </a:solidFill>
            <a:prstDash val="solid"/>
          </a:ln>
        </p:spPr>
      </p:sp>
      <p:sp>
        <p:nvSpPr>
          <p:cNvPr id="18" name="Shape 13"/>
          <p:cNvSpPr/>
          <p:nvPr/>
        </p:nvSpPr>
        <p:spPr>
          <a:xfrm>
            <a:off x="4297680" y="1874520"/>
            <a:ext cx="548640" cy="548640"/>
          </a:xfrm>
          <a:prstGeom prst="ellipse">
            <a:avLst/>
          </a:prstGeom>
          <a:solidFill>
            <a:srgbClr val="137C86"/>
          </a:solidFill>
          <a:ln w="12700">
            <a:solidFill>
              <a:srgbClr val="137C86"/>
            </a:solidFill>
            <a:prstDash val="solid"/>
          </a:ln>
        </p:spPr>
      </p:sp>
      <p:pic>
        <p:nvPicPr>
          <p:cNvPr id="19" name="Image 3" descr="preencoded.png">    </p:cNvPr>
          <p:cNvPicPr>
            <a:picLocks noChangeAspect="1"/>
          </p:cNvPicPr>
          <p:nvPr/>
        </p:nvPicPr>
        <p:blipFill>
          <a:blip r:embed="rId4"/>
          <a:stretch>
            <a:fillRect/>
          </a:stretch>
        </p:blipFill>
        <p:spPr>
          <a:xfrm>
            <a:off x="4434840" y="2011680"/>
            <a:ext cx="274320" cy="274320"/>
          </a:xfrm>
          <a:prstGeom prst="rect">
            <a:avLst/>
          </a:prstGeom>
        </p:spPr>
      </p:pic>
      <p:sp>
        <p:nvSpPr>
          <p:cNvPr id="20" name="Text 14"/>
          <p:cNvSpPr txBox="1"/>
          <p:nvPr/>
        </p:nvSpPr>
        <p:spPr>
          <a:xfrm>
            <a:off x="3520440" y="2468880"/>
            <a:ext cx="210312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Tabeeby</a:t>
            </a:r>
            <a:endParaRPr lang="en-US" sz="1800" dirty="0"/>
          </a:p>
        </p:txBody>
      </p:sp>
      <p:sp>
        <p:nvSpPr>
          <p:cNvPr id="21" name="Text 15"/>
          <p:cNvSpPr txBox="1"/>
          <p:nvPr/>
        </p:nvSpPr>
        <p:spPr>
          <a:xfrm>
            <a:off x="3657600" y="2880360"/>
            <a:ext cx="1828800" cy="822960"/>
          </a:xfrm>
          <a:prstGeom prst="rect">
            <a:avLst/>
          </a:prstGeom>
          <a:noFill/>
          <a:ln/>
        </p:spPr>
        <p:txBody>
          <a:bodyPr wrap="square" lIns="0" tIns="0" rIns="0" bIns="0" rtlCol="0" anchor="t"/>
          <a:lstStyle/>
          <a:p>
            <a:pPr algn="ctr" indent="0" marL="0">
              <a:buNone/>
            </a:pPr>
            <a:r>
              <a:rPr lang="en-US" sz="1050" dirty="0">
                <a:solidFill>
                  <a:srgbClr val="C9D6DD"/>
                </a:solidFill>
                <a:latin typeface="Calibri" pitchFamily="34" charset="0"/>
                <a:ea typeface="Calibri" pitchFamily="34" charset="-122"/>
                <a:cs typeface="Calibri" pitchFamily="34" charset="-120"/>
              </a:rPr>
              <a:t>search doctors · check emergency · web search · ask Tabeeby</a:t>
            </a:r>
            <a:endParaRPr lang="en-US" sz="1050" dirty="0"/>
          </a:p>
        </p:txBody>
      </p:sp>
      <p:sp>
        <p:nvSpPr>
          <p:cNvPr id="22" name="Shape 16"/>
          <p:cNvSpPr/>
          <p:nvPr/>
        </p:nvSpPr>
        <p:spPr>
          <a:xfrm>
            <a:off x="6583680" y="1691640"/>
            <a:ext cx="2103120" cy="685800"/>
          </a:xfrm>
          <a:prstGeom prst="roundRect">
            <a:avLst>
              <a:gd name="adj" fmla="val 10667"/>
            </a:avLst>
          </a:prstGeom>
          <a:solidFill>
            <a:srgbClr val="EEF4F6"/>
          </a:solidFill>
          <a:ln w="12700">
            <a:solidFill>
              <a:srgbClr val="EEF4F6"/>
            </a:solidFill>
            <a:prstDash val="solid"/>
          </a:ln>
        </p:spPr>
      </p:sp>
      <p:sp>
        <p:nvSpPr>
          <p:cNvPr id="23" name="Shape 17"/>
          <p:cNvSpPr/>
          <p:nvPr/>
        </p:nvSpPr>
        <p:spPr>
          <a:xfrm>
            <a:off x="6693408" y="1819656"/>
            <a:ext cx="429768" cy="429768"/>
          </a:xfrm>
          <a:prstGeom prst="ellipse">
            <a:avLst/>
          </a:prstGeom>
          <a:solidFill>
            <a:srgbClr val="E08A1E"/>
          </a:solidFill>
          <a:ln w="12700">
            <a:solidFill>
              <a:srgbClr val="E08A1E"/>
            </a:solidFill>
            <a:prstDash val="solid"/>
          </a:ln>
        </p:spPr>
      </p:sp>
      <p:pic>
        <p:nvPicPr>
          <p:cNvPr id="24" name="Image 4" descr="preencoded.png">    </p:cNvPr>
          <p:cNvPicPr>
            <a:picLocks noChangeAspect="1"/>
          </p:cNvPicPr>
          <p:nvPr/>
        </p:nvPicPr>
        <p:blipFill>
          <a:blip r:embed="rId5"/>
          <a:stretch>
            <a:fillRect/>
          </a:stretch>
        </p:blipFill>
        <p:spPr>
          <a:xfrm>
            <a:off x="6800850" y="1927098"/>
            <a:ext cx="214884" cy="214884"/>
          </a:xfrm>
          <a:prstGeom prst="rect">
            <a:avLst/>
          </a:prstGeom>
        </p:spPr>
      </p:pic>
      <p:sp>
        <p:nvSpPr>
          <p:cNvPr id="25" name="Text 18"/>
          <p:cNvSpPr txBox="1"/>
          <p:nvPr/>
        </p:nvSpPr>
        <p:spPr>
          <a:xfrm>
            <a:off x="7223760" y="1691640"/>
            <a:ext cx="1417320" cy="685800"/>
          </a:xfrm>
          <a:prstGeom prst="rect">
            <a:avLst/>
          </a:prstGeom>
          <a:noFill/>
          <a:ln/>
        </p:spPr>
        <p:txBody>
          <a:bodyPr wrap="square" lIns="0" tIns="0" rIns="0" bIns="0" rtlCol="0" anchor="ctr"/>
          <a:lstStyle/>
          <a:p>
            <a:pPr indent="0" marL="0">
              <a:buNone/>
            </a:pPr>
            <a:r>
              <a:rPr lang="en-US" sz="1200" b="1" dirty="0">
                <a:solidFill>
                  <a:srgbClr val="1B2B36"/>
                </a:solidFill>
                <a:latin typeface="Calibri" pitchFamily="34" charset="0"/>
                <a:ea typeface="Calibri" pitchFamily="34" charset="-122"/>
                <a:cs typeface="Calibri" pitchFamily="34" charset="-120"/>
              </a:rPr>
              <a:t>Maps / location</a:t>
            </a:r>
            <a:endParaRPr lang="en-US" sz="1200" dirty="0"/>
          </a:p>
        </p:txBody>
      </p:sp>
      <p:sp>
        <p:nvSpPr>
          <p:cNvPr id="26" name="Shape 19"/>
          <p:cNvSpPr/>
          <p:nvPr/>
        </p:nvSpPr>
        <p:spPr>
          <a:xfrm>
            <a:off x="6583680" y="2560320"/>
            <a:ext cx="2103120" cy="685800"/>
          </a:xfrm>
          <a:prstGeom prst="roundRect">
            <a:avLst>
              <a:gd name="adj" fmla="val 10667"/>
            </a:avLst>
          </a:prstGeom>
          <a:solidFill>
            <a:srgbClr val="EEF4F6"/>
          </a:solidFill>
          <a:ln w="12700">
            <a:solidFill>
              <a:srgbClr val="EEF4F6"/>
            </a:solidFill>
            <a:prstDash val="solid"/>
          </a:ln>
        </p:spPr>
      </p:sp>
      <p:sp>
        <p:nvSpPr>
          <p:cNvPr id="27" name="Shape 20"/>
          <p:cNvSpPr/>
          <p:nvPr/>
        </p:nvSpPr>
        <p:spPr>
          <a:xfrm>
            <a:off x="6693408" y="2688336"/>
            <a:ext cx="429768" cy="429768"/>
          </a:xfrm>
          <a:prstGeom prst="ellipse">
            <a:avLst/>
          </a:prstGeom>
          <a:solidFill>
            <a:srgbClr val="E08A1E"/>
          </a:solidFill>
          <a:ln w="12700">
            <a:solidFill>
              <a:srgbClr val="E08A1E"/>
            </a:solidFill>
            <a:prstDash val="solid"/>
          </a:ln>
        </p:spPr>
      </p:sp>
      <p:pic>
        <p:nvPicPr>
          <p:cNvPr id="28" name="Image 5" descr="preencoded.png">    </p:cNvPr>
          <p:cNvPicPr>
            <a:picLocks noChangeAspect="1"/>
          </p:cNvPicPr>
          <p:nvPr/>
        </p:nvPicPr>
        <p:blipFill>
          <a:blip r:embed="rId6"/>
          <a:stretch>
            <a:fillRect/>
          </a:stretch>
        </p:blipFill>
        <p:spPr>
          <a:xfrm>
            <a:off x="6800850" y="2795778"/>
            <a:ext cx="214884" cy="214884"/>
          </a:xfrm>
          <a:prstGeom prst="rect">
            <a:avLst/>
          </a:prstGeom>
        </p:spPr>
      </p:pic>
      <p:sp>
        <p:nvSpPr>
          <p:cNvPr id="29" name="Text 21"/>
          <p:cNvSpPr txBox="1"/>
          <p:nvPr/>
        </p:nvSpPr>
        <p:spPr>
          <a:xfrm>
            <a:off x="7223760" y="2560320"/>
            <a:ext cx="1417320" cy="685800"/>
          </a:xfrm>
          <a:prstGeom prst="rect">
            <a:avLst/>
          </a:prstGeom>
          <a:noFill/>
          <a:ln/>
        </p:spPr>
        <p:txBody>
          <a:bodyPr wrap="square" lIns="0" tIns="0" rIns="0" bIns="0" rtlCol="0" anchor="ctr"/>
          <a:lstStyle/>
          <a:p>
            <a:pPr indent="0" marL="0">
              <a:buNone/>
            </a:pPr>
            <a:r>
              <a:rPr lang="en-US" sz="1200" b="1" dirty="0">
                <a:solidFill>
                  <a:srgbClr val="1B2B36"/>
                </a:solidFill>
                <a:latin typeface="Calibri" pitchFamily="34" charset="0"/>
                <a:ea typeface="Calibri" pitchFamily="34" charset="-122"/>
                <a:cs typeface="Calibri" pitchFamily="34" charset="-120"/>
              </a:rPr>
              <a:t>Drug database</a:t>
            </a:r>
            <a:endParaRPr lang="en-US" sz="1200" dirty="0"/>
          </a:p>
        </p:txBody>
      </p:sp>
      <p:sp>
        <p:nvSpPr>
          <p:cNvPr id="30" name="Shape 22"/>
          <p:cNvSpPr/>
          <p:nvPr/>
        </p:nvSpPr>
        <p:spPr>
          <a:xfrm>
            <a:off x="6583680" y="3429000"/>
            <a:ext cx="2103120" cy="685800"/>
          </a:xfrm>
          <a:prstGeom prst="roundRect">
            <a:avLst>
              <a:gd name="adj" fmla="val 10667"/>
            </a:avLst>
          </a:prstGeom>
          <a:solidFill>
            <a:srgbClr val="EEF4F6"/>
          </a:solidFill>
          <a:ln w="12700">
            <a:solidFill>
              <a:srgbClr val="EEF4F6"/>
            </a:solidFill>
            <a:prstDash val="solid"/>
          </a:ln>
        </p:spPr>
      </p:sp>
      <p:sp>
        <p:nvSpPr>
          <p:cNvPr id="31" name="Shape 23"/>
          <p:cNvSpPr/>
          <p:nvPr/>
        </p:nvSpPr>
        <p:spPr>
          <a:xfrm>
            <a:off x="6693408" y="3557016"/>
            <a:ext cx="429768" cy="429768"/>
          </a:xfrm>
          <a:prstGeom prst="ellipse">
            <a:avLst/>
          </a:prstGeom>
          <a:solidFill>
            <a:srgbClr val="E08A1E"/>
          </a:solidFill>
          <a:ln w="12700">
            <a:solidFill>
              <a:srgbClr val="E08A1E"/>
            </a:solidFill>
            <a:prstDash val="solid"/>
          </a:ln>
        </p:spPr>
      </p:sp>
      <p:pic>
        <p:nvPicPr>
          <p:cNvPr id="32" name="Image 6" descr="preencoded.png">    </p:cNvPr>
          <p:cNvPicPr>
            <a:picLocks noChangeAspect="1"/>
          </p:cNvPicPr>
          <p:nvPr/>
        </p:nvPicPr>
        <p:blipFill>
          <a:blip r:embed="rId7"/>
          <a:stretch>
            <a:fillRect/>
          </a:stretch>
        </p:blipFill>
        <p:spPr>
          <a:xfrm>
            <a:off x="6800850" y="3664458"/>
            <a:ext cx="214884" cy="214884"/>
          </a:xfrm>
          <a:prstGeom prst="rect">
            <a:avLst/>
          </a:prstGeom>
        </p:spPr>
      </p:pic>
      <p:sp>
        <p:nvSpPr>
          <p:cNvPr id="33" name="Text 24"/>
          <p:cNvSpPr txBox="1"/>
          <p:nvPr/>
        </p:nvSpPr>
        <p:spPr>
          <a:xfrm>
            <a:off x="7223760" y="3429000"/>
            <a:ext cx="1417320" cy="685800"/>
          </a:xfrm>
          <a:prstGeom prst="rect">
            <a:avLst/>
          </a:prstGeom>
          <a:noFill/>
          <a:ln/>
        </p:spPr>
        <p:txBody>
          <a:bodyPr wrap="square" lIns="0" tIns="0" rIns="0" bIns="0" rtlCol="0" anchor="ctr"/>
          <a:lstStyle/>
          <a:p>
            <a:pPr indent="0" marL="0">
              <a:buNone/>
            </a:pPr>
            <a:r>
              <a:rPr lang="en-US" sz="1200" b="1" dirty="0">
                <a:solidFill>
                  <a:srgbClr val="1B2B36"/>
                </a:solidFill>
                <a:latin typeface="Calibri" pitchFamily="34" charset="0"/>
                <a:ea typeface="Calibri" pitchFamily="34" charset="-122"/>
                <a:cs typeface="Calibri" pitchFamily="34" charset="-120"/>
              </a:rPr>
              <a:t>Any MCP server</a:t>
            </a:r>
            <a:endParaRPr lang="en-US" sz="1200" dirty="0"/>
          </a:p>
        </p:txBody>
      </p:sp>
      <p:sp>
        <p:nvSpPr>
          <p:cNvPr id="34" name="Shape 25"/>
          <p:cNvSpPr/>
          <p:nvPr/>
        </p:nvSpPr>
        <p:spPr>
          <a:xfrm>
            <a:off x="2651760" y="2898648"/>
            <a:ext cx="777240" cy="0"/>
          </a:xfrm>
          <a:prstGeom prst="line">
            <a:avLst/>
          </a:prstGeom>
          <a:noFill/>
          <a:ln w="31750">
            <a:solidFill>
              <a:srgbClr val="1BBF9C"/>
            </a:solidFill>
            <a:prstDash val="solid"/>
            <a:tailEnd type="triangle"/>
          </a:ln>
        </p:spPr>
      </p:sp>
      <p:sp>
        <p:nvSpPr>
          <p:cNvPr id="35" name="Shape 26"/>
          <p:cNvSpPr/>
          <p:nvPr/>
        </p:nvSpPr>
        <p:spPr>
          <a:xfrm>
            <a:off x="5715000" y="2898648"/>
            <a:ext cx="777240" cy="0"/>
          </a:xfrm>
          <a:prstGeom prst="line">
            <a:avLst/>
          </a:prstGeom>
          <a:noFill/>
          <a:ln w="31750">
            <a:solidFill>
              <a:srgbClr val="E08A1E"/>
            </a:solidFill>
            <a:prstDash val="solid"/>
            <a:tailEnd type="triangle"/>
          </a:ln>
        </p:spPr>
      </p:sp>
      <p:sp>
        <p:nvSpPr>
          <p:cNvPr id="36" name="Text 27"/>
          <p:cNvSpPr txBox="1"/>
          <p:nvPr/>
        </p:nvSpPr>
        <p:spPr>
          <a:xfrm>
            <a:off x="457200" y="4297680"/>
            <a:ext cx="3840480" cy="320040"/>
          </a:xfrm>
          <a:prstGeom prst="rect">
            <a:avLst/>
          </a:prstGeom>
          <a:noFill/>
          <a:ln/>
        </p:spPr>
        <p:txBody>
          <a:bodyPr wrap="square" lIns="0" tIns="0" rIns="0" bIns="0" rtlCol="0" anchor="ctr"/>
          <a:lstStyle/>
          <a:p>
            <a:pPr indent="0" marL="0">
              <a:buNone/>
            </a:pPr>
            <a:r>
              <a:rPr lang="en-US" sz="1200" b="1" dirty="0">
                <a:solidFill>
                  <a:srgbClr val="1BBF9C"/>
                </a:solidFill>
                <a:latin typeface="Calibri" pitchFamily="34" charset="0"/>
                <a:ea typeface="Calibri" pitchFamily="34" charset="-122"/>
                <a:cs typeface="Calibri" pitchFamily="34" charset="-120"/>
              </a:rPr>
              <a:t>As a server: others use Tabeeby</a:t>
            </a:r>
            <a:endParaRPr lang="en-US" sz="1200" dirty="0"/>
          </a:p>
        </p:txBody>
      </p:sp>
      <p:sp>
        <p:nvSpPr>
          <p:cNvPr id="37" name="Text 28"/>
          <p:cNvSpPr txBox="1"/>
          <p:nvPr/>
        </p:nvSpPr>
        <p:spPr>
          <a:xfrm>
            <a:off x="4846320" y="4297680"/>
            <a:ext cx="3840480" cy="320040"/>
          </a:xfrm>
          <a:prstGeom prst="rect">
            <a:avLst/>
          </a:prstGeom>
          <a:noFill/>
          <a:ln/>
        </p:spPr>
        <p:txBody>
          <a:bodyPr wrap="square" lIns="0" tIns="0" rIns="0" bIns="0" rtlCol="0" anchor="ctr"/>
          <a:lstStyle/>
          <a:p>
            <a:pPr algn="r" indent="0" marL="0">
              <a:buNone/>
            </a:pPr>
            <a:r>
              <a:rPr lang="en-US" sz="1200" b="1" dirty="0">
                <a:solidFill>
                  <a:srgbClr val="E08A1E"/>
                </a:solidFill>
                <a:latin typeface="Calibri" pitchFamily="34" charset="0"/>
                <a:ea typeface="Calibri" pitchFamily="34" charset="-122"/>
                <a:cs typeface="Calibri" pitchFamily="34" charset="-120"/>
              </a:rPr>
              <a:t>As a client: Tabeeby borrows tools</a:t>
            </a:r>
            <a:endParaRPr lang="en-US" sz="1200" dirty="0"/>
          </a:p>
        </p:txBody>
      </p:sp>
      <p:sp>
        <p:nvSpPr>
          <p:cNvPr id="38" name="Text 29"/>
          <p:cNvSpPr txBox="1"/>
          <p:nvPr/>
        </p:nvSpPr>
        <p:spPr>
          <a:xfrm>
            <a:off x="8321040" y="4800600"/>
            <a:ext cx="457200" cy="228600"/>
          </a:xfrm>
          <a:prstGeom prst="rect">
            <a:avLst/>
          </a:prstGeom>
          <a:noFill/>
          <a:ln/>
        </p:spPr>
        <p:txBody>
          <a:bodyPr wrap="square" lIns="0" tIns="0" rIns="0" bIns="0" rtlCol="0" anchor="ctr"/>
          <a:lstStyle/>
          <a:p>
            <a:pPr algn="r" indent="0" marL="0">
              <a:buNone/>
            </a:pPr>
            <a:r>
              <a:rPr lang="en-US" sz="900" dirty="0">
                <a:solidFill>
                  <a:srgbClr val="5B6B75"/>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000" b="1" spc="100" kern="0" dirty="0">
                <a:solidFill>
                  <a:srgbClr val="137C86"/>
                </a:solidFill>
                <a:latin typeface="Calibri" pitchFamily="34" charset="0"/>
                <a:ea typeface="Calibri" pitchFamily="34" charset="-122"/>
                <a:cs typeface="Calibri" pitchFamily="34" charset="-120"/>
              </a:rPr>
              <a:t>ADDITION 3 · RELIABLE GOAL LOOP</a:t>
            </a:r>
            <a:endParaRPr lang="en-US" sz="1000" dirty="0"/>
          </a:p>
        </p:txBody>
      </p:sp>
      <p:sp>
        <p:nvSpPr>
          <p:cNvPr id="3" name="Text 1"/>
          <p:cNvSpPr txBox="1"/>
          <p:nvPr/>
        </p:nvSpPr>
        <p:spPr>
          <a:xfrm>
            <a:off x="457200" y="530352"/>
            <a:ext cx="8229600" cy="457200"/>
          </a:xfrm>
          <a:prstGeom prst="rect">
            <a:avLst/>
          </a:prstGeom>
          <a:noFill/>
          <a:ln/>
        </p:spPr>
        <p:txBody>
          <a:bodyPr wrap="square" lIns="0" tIns="0" rIns="0" bIns="0" rtlCol="0" anchor="ctr"/>
          <a:lstStyle/>
          <a:p>
            <a:pPr indent="0" marL="0">
              <a:buNone/>
            </a:pPr>
            <a:r>
              <a:rPr lang="en-US" sz="2600" b="1" dirty="0">
                <a:solidFill>
                  <a:srgbClr val="1B2B36"/>
                </a:solidFill>
                <a:latin typeface="Cambria" pitchFamily="34" charset="0"/>
                <a:ea typeface="Cambria" pitchFamily="34" charset="-122"/>
                <a:cs typeface="Cambria" pitchFamily="34" charset="-120"/>
              </a:rPr>
              <a:t>Every answer is budgeted, checked, and fixed</a:t>
            </a:r>
            <a:endParaRPr lang="en-US" sz="2600" dirty="0"/>
          </a:p>
        </p:txBody>
      </p:sp>
      <p:sp>
        <p:nvSpPr>
          <p:cNvPr id="4" name="Shape 2"/>
          <p:cNvSpPr/>
          <p:nvPr/>
        </p:nvSpPr>
        <p:spPr>
          <a:xfrm>
            <a:off x="457200" y="1234440"/>
            <a:ext cx="1783080" cy="1508760"/>
          </a:xfrm>
          <a:prstGeom prst="roundRect">
            <a:avLst>
              <a:gd name="adj" fmla="val 4848"/>
            </a:avLst>
          </a:prstGeom>
          <a:solidFill>
            <a:srgbClr val="EEF4F6"/>
          </a:solidFill>
          <a:ln w="12700">
            <a:solidFill>
              <a:srgbClr val="EEF4F6"/>
            </a:solidFill>
            <a:prstDash val="solid"/>
          </a:ln>
        </p:spPr>
      </p:sp>
      <p:sp>
        <p:nvSpPr>
          <p:cNvPr id="5" name="Shape 3"/>
          <p:cNvSpPr/>
          <p:nvPr/>
        </p:nvSpPr>
        <p:spPr>
          <a:xfrm>
            <a:off x="1074420" y="1399032"/>
            <a:ext cx="548640" cy="548640"/>
          </a:xfrm>
          <a:prstGeom prst="ellipse">
            <a:avLst/>
          </a:prstGeom>
          <a:solidFill>
            <a:srgbClr val="137C86"/>
          </a:solidFill>
          <a:ln w="12700">
            <a:solidFill>
              <a:srgbClr val="137C86"/>
            </a:solidFill>
            <a:prstDash val="solid"/>
          </a:ln>
        </p:spPr>
      </p:sp>
      <p:pic>
        <p:nvPicPr>
          <p:cNvPr id="6" name="Image 0" descr="preencoded.png">    </p:cNvPr>
          <p:cNvPicPr>
            <a:picLocks noChangeAspect="1"/>
          </p:cNvPicPr>
          <p:nvPr/>
        </p:nvPicPr>
        <p:blipFill>
          <a:blip r:embed="rId1"/>
          <a:stretch>
            <a:fillRect/>
          </a:stretch>
        </p:blipFill>
        <p:spPr>
          <a:xfrm>
            <a:off x="1211580" y="1536192"/>
            <a:ext cx="274320" cy="274320"/>
          </a:xfrm>
          <a:prstGeom prst="rect">
            <a:avLst/>
          </a:prstGeom>
        </p:spPr>
      </p:pic>
      <p:sp>
        <p:nvSpPr>
          <p:cNvPr id="7" name="Text 4"/>
          <p:cNvSpPr txBox="1"/>
          <p:nvPr/>
        </p:nvSpPr>
        <p:spPr>
          <a:xfrm>
            <a:off x="457200" y="2011680"/>
            <a:ext cx="1783080" cy="320040"/>
          </a:xfrm>
          <a:prstGeom prst="rect">
            <a:avLst/>
          </a:prstGeom>
          <a:noFill/>
          <a:ln/>
        </p:spPr>
        <p:txBody>
          <a:bodyPr wrap="square" lIns="0" tIns="0" rIns="0" bIns="0" rtlCol="0" anchor="ctr"/>
          <a:lstStyle/>
          <a:p>
            <a:pPr algn="ctr" indent="0" marL="0">
              <a:buNone/>
            </a:pPr>
            <a:r>
              <a:rPr lang="en-US" sz="1400" b="1" dirty="0">
                <a:solidFill>
                  <a:srgbClr val="1B2B36"/>
                </a:solidFill>
                <a:latin typeface="Calibri" pitchFamily="34" charset="0"/>
                <a:ea typeface="Calibri" pitchFamily="34" charset="-122"/>
                <a:cs typeface="Calibri" pitchFamily="34" charset="-120"/>
              </a:rPr>
              <a:t>Think &amp; Act</a:t>
            </a:r>
            <a:endParaRPr lang="en-US" sz="1400" dirty="0"/>
          </a:p>
        </p:txBody>
      </p:sp>
      <p:sp>
        <p:nvSpPr>
          <p:cNvPr id="8" name="Text 5"/>
          <p:cNvSpPr txBox="1"/>
          <p:nvPr/>
        </p:nvSpPr>
        <p:spPr>
          <a:xfrm>
            <a:off x="548640" y="2331720"/>
            <a:ext cx="1600200" cy="365760"/>
          </a:xfrm>
          <a:prstGeom prst="rect">
            <a:avLst/>
          </a:prstGeom>
          <a:noFill/>
          <a:ln/>
        </p:spPr>
        <p:txBody>
          <a:bodyPr wrap="square" lIns="0" tIns="0" rIns="0" bIns="0" rtlCol="0" anchor="ctr"/>
          <a:lstStyle/>
          <a:p>
            <a:pPr algn="ctr" indent="0" marL="0">
              <a:buNone/>
            </a:pPr>
            <a:r>
              <a:rPr lang="en-US" sz="1100" dirty="0">
                <a:solidFill>
                  <a:srgbClr val="5B6B75"/>
                </a:solidFill>
                <a:latin typeface="Calibri" pitchFamily="34" charset="0"/>
                <a:ea typeface="Calibri" pitchFamily="34" charset="-122"/>
                <a:cs typeface="Calibri" pitchFamily="34" charset="-120"/>
              </a:rPr>
              <a:t>Reason, load skills, call tools</a:t>
            </a:r>
            <a:endParaRPr lang="en-US" sz="1100" dirty="0"/>
          </a:p>
        </p:txBody>
      </p:sp>
      <p:sp>
        <p:nvSpPr>
          <p:cNvPr id="9" name="Shape 6"/>
          <p:cNvSpPr/>
          <p:nvPr/>
        </p:nvSpPr>
        <p:spPr>
          <a:xfrm>
            <a:off x="2295144" y="1993392"/>
            <a:ext cx="256032" cy="0"/>
          </a:xfrm>
          <a:prstGeom prst="line">
            <a:avLst/>
          </a:prstGeom>
          <a:noFill/>
          <a:ln w="25400">
            <a:solidFill>
              <a:srgbClr val="137C86"/>
            </a:solidFill>
            <a:prstDash val="solid"/>
            <a:tailEnd type="triangle"/>
          </a:ln>
        </p:spPr>
      </p:sp>
      <p:sp>
        <p:nvSpPr>
          <p:cNvPr id="10" name="Shape 7"/>
          <p:cNvSpPr/>
          <p:nvPr/>
        </p:nvSpPr>
        <p:spPr>
          <a:xfrm>
            <a:off x="2606040" y="1234440"/>
            <a:ext cx="1783080" cy="1508760"/>
          </a:xfrm>
          <a:prstGeom prst="roundRect">
            <a:avLst>
              <a:gd name="adj" fmla="val 4848"/>
            </a:avLst>
          </a:prstGeom>
          <a:solidFill>
            <a:srgbClr val="EEF4F6"/>
          </a:solidFill>
          <a:ln w="12700">
            <a:solidFill>
              <a:srgbClr val="EEF4F6"/>
            </a:solidFill>
            <a:prstDash val="solid"/>
          </a:ln>
        </p:spPr>
      </p:sp>
      <p:sp>
        <p:nvSpPr>
          <p:cNvPr id="11" name="Shape 8"/>
          <p:cNvSpPr/>
          <p:nvPr/>
        </p:nvSpPr>
        <p:spPr>
          <a:xfrm>
            <a:off x="3223260" y="1399032"/>
            <a:ext cx="548640" cy="548640"/>
          </a:xfrm>
          <a:prstGeom prst="ellipse">
            <a:avLst/>
          </a:prstGeom>
          <a:solidFill>
            <a:srgbClr val="137C86"/>
          </a:solidFill>
          <a:ln w="12700">
            <a:solidFill>
              <a:srgbClr val="137C86"/>
            </a:solidFill>
            <a:prstDash val="solid"/>
          </a:ln>
        </p:spPr>
      </p:sp>
      <p:pic>
        <p:nvPicPr>
          <p:cNvPr id="12" name="Image 1" descr="preencoded.png">    </p:cNvPr>
          <p:cNvPicPr>
            <a:picLocks noChangeAspect="1"/>
          </p:cNvPicPr>
          <p:nvPr/>
        </p:nvPicPr>
        <p:blipFill>
          <a:blip r:embed="rId2"/>
          <a:stretch>
            <a:fillRect/>
          </a:stretch>
        </p:blipFill>
        <p:spPr>
          <a:xfrm>
            <a:off x="3360420" y="1536192"/>
            <a:ext cx="274320" cy="274320"/>
          </a:xfrm>
          <a:prstGeom prst="rect">
            <a:avLst/>
          </a:prstGeom>
        </p:spPr>
      </p:pic>
      <p:sp>
        <p:nvSpPr>
          <p:cNvPr id="13" name="Text 9"/>
          <p:cNvSpPr txBox="1"/>
          <p:nvPr/>
        </p:nvSpPr>
        <p:spPr>
          <a:xfrm>
            <a:off x="2606040" y="2011680"/>
            <a:ext cx="1783080" cy="320040"/>
          </a:xfrm>
          <a:prstGeom prst="rect">
            <a:avLst/>
          </a:prstGeom>
          <a:noFill/>
          <a:ln/>
        </p:spPr>
        <p:txBody>
          <a:bodyPr wrap="square" lIns="0" tIns="0" rIns="0" bIns="0" rtlCol="0" anchor="ctr"/>
          <a:lstStyle/>
          <a:p>
            <a:pPr algn="ctr" indent="0" marL="0">
              <a:buNone/>
            </a:pPr>
            <a:r>
              <a:rPr lang="en-US" sz="1400" b="1" dirty="0">
                <a:solidFill>
                  <a:srgbClr val="1B2B36"/>
                </a:solidFill>
                <a:latin typeface="Calibri" pitchFamily="34" charset="0"/>
                <a:ea typeface="Calibri" pitchFamily="34" charset="-122"/>
                <a:cs typeface="Calibri" pitchFamily="34" charset="-120"/>
              </a:rPr>
              <a:t>Verify</a:t>
            </a:r>
            <a:endParaRPr lang="en-US" sz="1400" dirty="0"/>
          </a:p>
        </p:txBody>
      </p:sp>
      <p:sp>
        <p:nvSpPr>
          <p:cNvPr id="14" name="Text 10"/>
          <p:cNvSpPr txBox="1"/>
          <p:nvPr/>
        </p:nvSpPr>
        <p:spPr>
          <a:xfrm>
            <a:off x="2697480" y="2331720"/>
            <a:ext cx="1600200" cy="365760"/>
          </a:xfrm>
          <a:prstGeom prst="rect">
            <a:avLst/>
          </a:prstGeom>
          <a:noFill/>
          <a:ln/>
        </p:spPr>
        <p:txBody>
          <a:bodyPr wrap="square" lIns="0" tIns="0" rIns="0" bIns="0" rtlCol="0" anchor="ctr"/>
          <a:lstStyle/>
          <a:p>
            <a:pPr algn="ctr" indent="0" marL="0">
              <a:buNone/>
            </a:pPr>
            <a:r>
              <a:rPr lang="en-US" sz="1100" dirty="0">
                <a:solidFill>
                  <a:srgbClr val="5B6B75"/>
                </a:solidFill>
                <a:latin typeface="Calibri" pitchFamily="34" charset="0"/>
                <a:ea typeface="Calibri" pitchFamily="34" charset="-122"/>
                <a:cs typeface="Calibri" pitchFamily="34" charset="-120"/>
              </a:rPr>
              <a:t>Code checks the draft answer</a:t>
            </a:r>
            <a:endParaRPr lang="en-US" sz="1100" dirty="0"/>
          </a:p>
        </p:txBody>
      </p:sp>
      <p:sp>
        <p:nvSpPr>
          <p:cNvPr id="15" name="Shape 11"/>
          <p:cNvSpPr/>
          <p:nvPr/>
        </p:nvSpPr>
        <p:spPr>
          <a:xfrm>
            <a:off x="4443984" y="1993392"/>
            <a:ext cx="256032" cy="0"/>
          </a:xfrm>
          <a:prstGeom prst="line">
            <a:avLst/>
          </a:prstGeom>
          <a:noFill/>
          <a:ln w="25400">
            <a:solidFill>
              <a:srgbClr val="137C86"/>
            </a:solidFill>
            <a:prstDash val="solid"/>
            <a:tailEnd type="triangle"/>
          </a:ln>
        </p:spPr>
      </p:sp>
      <p:sp>
        <p:nvSpPr>
          <p:cNvPr id="16" name="Shape 12"/>
          <p:cNvSpPr/>
          <p:nvPr/>
        </p:nvSpPr>
        <p:spPr>
          <a:xfrm>
            <a:off x="4754880" y="1234440"/>
            <a:ext cx="1783080" cy="1508760"/>
          </a:xfrm>
          <a:prstGeom prst="roundRect">
            <a:avLst>
              <a:gd name="adj" fmla="val 4848"/>
            </a:avLst>
          </a:prstGeom>
          <a:solidFill>
            <a:srgbClr val="EEF4F6"/>
          </a:solidFill>
          <a:ln w="12700">
            <a:solidFill>
              <a:srgbClr val="EEF4F6"/>
            </a:solidFill>
            <a:prstDash val="solid"/>
          </a:ln>
        </p:spPr>
      </p:sp>
      <p:sp>
        <p:nvSpPr>
          <p:cNvPr id="17" name="Shape 13"/>
          <p:cNvSpPr/>
          <p:nvPr/>
        </p:nvSpPr>
        <p:spPr>
          <a:xfrm>
            <a:off x="5372100" y="1399032"/>
            <a:ext cx="548640" cy="548640"/>
          </a:xfrm>
          <a:prstGeom prst="ellipse">
            <a:avLst/>
          </a:prstGeom>
          <a:solidFill>
            <a:srgbClr val="137C86"/>
          </a:solidFill>
          <a:ln w="12700">
            <a:solidFill>
              <a:srgbClr val="137C86"/>
            </a:solidFill>
            <a:prstDash val="solid"/>
          </a:ln>
        </p:spPr>
      </p:sp>
      <p:pic>
        <p:nvPicPr>
          <p:cNvPr id="18" name="Image 2" descr="preencoded.png">    </p:cNvPr>
          <p:cNvPicPr>
            <a:picLocks noChangeAspect="1"/>
          </p:cNvPicPr>
          <p:nvPr/>
        </p:nvPicPr>
        <p:blipFill>
          <a:blip r:embed="rId3"/>
          <a:stretch>
            <a:fillRect/>
          </a:stretch>
        </p:blipFill>
        <p:spPr>
          <a:xfrm>
            <a:off x="5509260" y="1536192"/>
            <a:ext cx="274320" cy="274320"/>
          </a:xfrm>
          <a:prstGeom prst="rect">
            <a:avLst/>
          </a:prstGeom>
        </p:spPr>
      </p:pic>
      <p:sp>
        <p:nvSpPr>
          <p:cNvPr id="19" name="Text 14"/>
          <p:cNvSpPr txBox="1"/>
          <p:nvPr/>
        </p:nvSpPr>
        <p:spPr>
          <a:xfrm>
            <a:off x="4754880" y="2011680"/>
            <a:ext cx="1783080" cy="320040"/>
          </a:xfrm>
          <a:prstGeom prst="rect">
            <a:avLst/>
          </a:prstGeom>
          <a:noFill/>
          <a:ln/>
        </p:spPr>
        <p:txBody>
          <a:bodyPr wrap="square" lIns="0" tIns="0" rIns="0" bIns="0" rtlCol="0" anchor="ctr"/>
          <a:lstStyle/>
          <a:p>
            <a:pPr algn="ctr" indent="0" marL="0">
              <a:buNone/>
            </a:pPr>
            <a:r>
              <a:rPr lang="en-US" sz="1400" b="1" dirty="0">
                <a:solidFill>
                  <a:srgbClr val="1B2B36"/>
                </a:solidFill>
                <a:latin typeface="Calibri" pitchFamily="34" charset="0"/>
                <a:ea typeface="Calibri" pitchFamily="34" charset="-122"/>
                <a:cs typeface="Calibri" pitchFamily="34" charset="-120"/>
              </a:rPr>
              <a:t>Refine</a:t>
            </a:r>
            <a:endParaRPr lang="en-US" sz="1400" dirty="0"/>
          </a:p>
        </p:txBody>
      </p:sp>
      <p:sp>
        <p:nvSpPr>
          <p:cNvPr id="20" name="Text 15"/>
          <p:cNvSpPr txBox="1"/>
          <p:nvPr/>
        </p:nvSpPr>
        <p:spPr>
          <a:xfrm>
            <a:off x="4846320" y="2331720"/>
            <a:ext cx="1600200" cy="365760"/>
          </a:xfrm>
          <a:prstGeom prst="rect">
            <a:avLst/>
          </a:prstGeom>
          <a:noFill/>
          <a:ln/>
        </p:spPr>
        <p:txBody>
          <a:bodyPr wrap="square" lIns="0" tIns="0" rIns="0" bIns="0" rtlCol="0" anchor="ctr"/>
          <a:lstStyle/>
          <a:p>
            <a:pPr algn="ctr" indent="0" marL="0">
              <a:buNone/>
            </a:pPr>
            <a:r>
              <a:rPr lang="en-US" sz="1100" dirty="0">
                <a:solidFill>
                  <a:srgbClr val="5B6B75"/>
                </a:solidFill>
                <a:latin typeface="Calibri" pitchFamily="34" charset="0"/>
                <a:ea typeface="Calibri" pitchFamily="34" charset="-122"/>
                <a:cs typeface="Calibri" pitchFamily="34" charset="-120"/>
              </a:rPr>
              <a:t>Failures go back to the model</a:t>
            </a:r>
            <a:endParaRPr lang="en-US" sz="1100" dirty="0"/>
          </a:p>
        </p:txBody>
      </p:sp>
      <p:sp>
        <p:nvSpPr>
          <p:cNvPr id="21" name="Shape 16"/>
          <p:cNvSpPr/>
          <p:nvPr/>
        </p:nvSpPr>
        <p:spPr>
          <a:xfrm>
            <a:off x="6592824" y="1993392"/>
            <a:ext cx="256032" cy="0"/>
          </a:xfrm>
          <a:prstGeom prst="line">
            <a:avLst/>
          </a:prstGeom>
          <a:noFill/>
          <a:ln w="25400">
            <a:solidFill>
              <a:srgbClr val="137C86"/>
            </a:solidFill>
            <a:prstDash val="solid"/>
            <a:tailEnd type="triangle"/>
          </a:ln>
        </p:spPr>
      </p:sp>
      <p:sp>
        <p:nvSpPr>
          <p:cNvPr id="22" name="Shape 17"/>
          <p:cNvSpPr/>
          <p:nvPr/>
        </p:nvSpPr>
        <p:spPr>
          <a:xfrm>
            <a:off x="6903720" y="1234440"/>
            <a:ext cx="1783080" cy="1508760"/>
          </a:xfrm>
          <a:prstGeom prst="roundRect">
            <a:avLst>
              <a:gd name="adj" fmla="val 4848"/>
            </a:avLst>
          </a:prstGeom>
          <a:solidFill>
            <a:srgbClr val="EEF4F6"/>
          </a:solidFill>
          <a:ln w="12700">
            <a:solidFill>
              <a:srgbClr val="EEF4F6"/>
            </a:solidFill>
            <a:prstDash val="solid"/>
          </a:ln>
        </p:spPr>
      </p:sp>
      <p:sp>
        <p:nvSpPr>
          <p:cNvPr id="23" name="Shape 18"/>
          <p:cNvSpPr/>
          <p:nvPr/>
        </p:nvSpPr>
        <p:spPr>
          <a:xfrm>
            <a:off x="7520940" y="1399032"/>
            <a:ext cx="548640" cy="548640"/>
          </a:xfrm>
          <a:prstGeom prst="ellipse">
            <a:avLst/>
          </a:prstGeom>
          <a:solidFill>
            <a:srgbClr val="E08A1E"/>
          </a:solidFill>
          <a:ln w="12700">
            <a:solidFill>
              <a:srgbClr val="E08A1E"/>
            </a:solidFill>
            <a:prstDash val="solid"/>
          </a:ln>
        </p:spPr>
      </p:sp>
      <p:pic>
        <p:nvPicPr>
          <p:cNvPr id="24" name="Image 3" descr="preencoded.png">    </p:cNvPr>
          <p:cNvPicPr>
            <a:picLocks noChangeAspect="1"/>
          </p:cNvPicPr>
          <p:nvPr/>
        </p:nvPicPr>
        <p:blipFill>
          <a:blip r:embed="rId4"/>
          <a:stretch>
            <a:fillRect/>
          </a:stretch>
        </p:blipFill>
        <p:spPr>
          <a:xfrm>
            <a:off x="7658100" y="1536192"/>
            <a:ext cx="274320" cy="274320"/>
          </a:xfrm>
          <a:prstGeom prst="rect">
            <a:avLst/>
          </a:prstGeom>
        </p:spPr>
      </p:pic>
      <p:sp>
        <p:nvSpPr>
          <p:cNvPr id="25" name="Text 19"/>
          <p:cNvSpPr txBox="1"/>
          <p:nvPr/>
        </p:nvSpPr>
        <p:spPr>
          <a:xfrm>
            <a:off x="6903720" y="2011680"/>
            <a:ext cx="1783080" cy="320040"/>
          </a:xfrm>
          <a:prstGeom prst="rect">
            <a:avLst/>
          </a:prstGeom>
          <a:noFill/>
          <a:ln/>
        </p:spPr>
        <p:txBody>
          <a:bodyPr wrap="square" lIns="0" tIns="0" rIns="0" bIns="0" rtlCol="0" anchor="ctr"/>
          <a:lstStyle/>
          <a:p>
            <a:pPr algn="ctr" indent="0" marL="0">
              <a:buNone/>
            </a:pPr>
            <a:r>
              <a:rPr lang="en-US" sz="1400" b="1" dirty="0">
                <a:solidFill>
                  <a:srgbClr val="1B2B36"/>
                </a:solidFill>
                <a:latin typeface="Calibri" pitchFamily="34" charset="0"/>
                <a:ea typeface="Calibri" pitchFamily="34" charset="-122"/>
                <a:cs typeface="Calibri" pitchFamily="34" charset="-120"/>
              </a:rPr>
              <a:t>Repair</a:t>
            </a:r>
            <a:endParaRPr lang="en-US" sz="1400" dirty="0"/>
          </a:p>
        </p:txBody>
      </p:sp>
      <p:sp>
        <p:nvSpPr>
          <p:cNvPr id="26" name="Text 20"/>
          <p:cNvSpPr txBox="1"/>
          <p:nvPr/>
        </p:nvSpPr>
        <p:spPr>
          <a:xfrm>
            <a:off x="6995160" y="2331720"/>
            <a:ext cx="1600200" cy="365760"/>
          </a:xfrm>
          <a:prstGeom prst="rect">
            <a:avLst/>
          </a:prstGeom>
          <a:noFill/>
          <a:ln/>
        </p:spPr>
        <p:txBody>
          <a:bodyPr wrap="square" lIns="0" tIns="0" rIns="0" bIns="0" rtlCol="0" anchor="ctr"/>
          <a:lstStyle/>
          <a:p>
            <a:pPr algn="ctr" indent="0" marL="0">
              <a:buNone/>
            </a:pPr>
            <a:r>
              <a:rPr lang="en-US" sz="1100" dirty="0">
                <a:solidFill>
                  <a:srgbClr val="5B6B75"/>
                </a:solidFill>
                <a:latin typeface="Calibri" pitchFamily="34" charset="0"/>
                <a:ea typeface="Calibri" pitchFamily="34" charset="-122"/>
                <a:cs typeface="Calibri" pitchFamily="34" charset="-120"/>
              </a:rPr>
              <a:t>Out of budget? Safe automatic fix</a:t>
            </a:r>
            <a:endParaRPr lang="en-US" sz="1100" dirty="0"/>
          </a:p>
        </p:txBody>
      </p:sp>
      <p:sp>
        <p:nvSpPr>
          <p:cNvPr id="27" name="Shape 21"/>
          <p:cNvSpPr/>
          <p:nvPr/>
        </p:nvSpPr>
        <p:spPr>
          <a:xfrm>
            <a:off x="457200" y="3017520"/>
            <a:ext cx="8229600" cy="1600200"/>
          </a:xfrm>
          <a:prstGeom prst="roundRect">
            <a:avLst>
              <a:gd name="adj" fmla="val 5714"/>
            </a:avLst>
          </a:prstGeom>
          <a:solidFill>
            <a:srgbClr val="0B2A3C"/>
          </a:solidFill>
          <a:ln w="12700">
            <a:solidFill>
              <a:srgbClr val="0B2A3C"/>
            </a:solidFill>
            <a:prstDash val="solid"/>
          </a:ln>
        </p:spPr>
      </p:sp>
      <p:sp>
        <p:nvSpPr>
          <p:cNvPr id="28" name="Text 22"/>
          <p:cNvSpPr txBox="1"/>
          <p:nvPr/>
        </p:nvSpPr>
        <p:spPr>
          <a:xfrm>
            <a:off x="731520" y="3127248"/>
            <a:ext cx="3657600" cy="274320"/>
          </a:xfrm>
          <a:prstGeom prst="rect">
            <a:avLst/>
          </a:prstGeom>
          <a:noFill/>
          <a:ln/>
        </p:spPr>
        <p:txBody>
          <a:bodyPr wrap="square" lIns="0" tIns="0" rIns="0" bIns="0" rtlCol="0" anchor="ctr"/>
          <a:lstStyle/>
          <a:p>
            <a:pPr indent="0" marL="0">
              <a:buNone/>
            </a:pPr>
            <a:r>
              <a:rPr lang="en-US" sz="1100" b="1" dirty="0">
                <a:solidFill>
                  <a:srgbClr val="1BBF9C"/>
                </a:solidFill>
                <a:latin typeface="Calibri" pitchFamily="34" charset="0"/>
                <a:ea typeface="Calibri" pitchFamily="34" charset="-122"/>
                <a:cs typeface="Calibri" pitchFamily="34" charset="-120"/>
              </a:rPr>
              <a:t>Per-message budget</a:t>
            </a:r>
            <a:endParaRPr lang="en-US" sz="1100" dirty="0"/>
          </a:p>
        </p:txBody>
      </p:sp>
      <p:sp>
        <p:nvSpPr>
          <p:cNvPr id="29" name="Text 23"/>
          <p:cNvSpPr txBox="1"/>
          <p:nvPr/>
        </p:nvSpPr>
        <p:spPr>
          <a:xfrm>
            <a:off x="731520" y="3429000"/>
            <a:ext cx="1828800" cy="5943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8</a:t>
            </a:r>
            <a:endParaRPr lang="en-US" sz="3400" dirty="0"/>
          </a:p>
        </p:txBody>
      </p:sp>
      <p:sp>
        <p:nvSpPr>
          <p:cNvPr id="30" name="Text 24"/>
          <p:cNvSpPr txBox="1"/>
          <p:nvPr/>
        </p:nvSpPr>
        <p:spPr>
          <a:xfrm>
            <a:off x="731520" y="4041648"/>
            <a:ext cx="1828800" cy="274320"/>
          </a:xfrm>
          <a:prstGeom prst="rect">
            <a:avLst/>
          </a:prstGeom>
          <a:noFill/>
          <a:ln/>
        </p:spPr>
        <p:txBody>
          <a:bodyPr wrap="square" lIns="0" tIns="0" rIns="0" bIns="0" rtlCol="0" anchor="ctr"/>
          <a:lstStyle/>
          <a:p>
            <a:pPr indent="0" marL="0">
              <a:buNone/>
            </a:pPr>
            <a:r>
              <a:rPr lang="en-US" sz="1200" dirty="0">
                <a:solidFill>
                  <a:srgbClr val="C9D6DD"/>
                </a:solidFill>
                <a:latin typeface="Calibri" pitchFamily="34" charset="0"/>
                <a:ea typeface="Calibri" pitchFamily="34" charset="-122"/>
                <a:cs typeface="Calibri" pitchFamily="34" charset="-120"/>
              </a:rPr>
              <a:t>reasoning steps</a:t>
            </a:r>
            <a:endParaRPr lang="en-US" sz="1200" dirty="0"/>
          </a:p>
        </p:txBody>
      </p:sp>
      <p:sp>
        <p:nvSpPr>
          <p:cNvPr id="31" name="Text 25"/>
          <p:cNvSpPr txBox="1"/>
          <p:nvPr/>
        </p:nvSpPr>
        <p:spPr>
          <a:xfrm>
            <a:off x="2743200" y="3429000"/>
            <a:ext cx="1828800" cy="5943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90 s</a:t>
            </a:r>
            <a:endParaRPr lang="en-US" sz="3400" dirty="0"/>
          </a:p>
        </p:txBody>
      </p:sp>
      <p:sp>
        <p:nvSpPr>
          <p:cNvPr id="32" name="Text 26"/>
          <p:cNvSpPr txBox="1"/>
          <p:nvPr/>
        </p:nvSpPr>
        <p:spPr>
          <a:xfrm>
            <a:off x="2743200" y="4041648"/>
            <a:ext cx="1828800" cy="274320"/>
          </a:xfrm>
          <a:prstGeom prst="rect">
            <a:avLst/>
          </a:prstGeom>
          <a:noFill/>
          <a:ln/>
        </p:spPr>
        <p:txBody>
          <a:bodyPr wrap="square" lIns="0" tIns="0" rIns="0" bIns="0" rtlCol="0" anchor="ctr"/>
          <a:lstStyle/>
          <a:p>
            <a:pPr indent="0" marL="0">
              <a:buNone/>
            </a:pPr>
            <a:r>
              <a:rPr lang="en-US" sz="1200" dirty="0">
                <a:solidFill>
                  <a:srgbClr val="C9D6DD"/>
                </a:solidFill>
                <a:latin typeface="Calibri" pitchFamily="34" charset="0"/>
                <a:ea typeface="Calibri" pitchFamily="34" charset="-122"/>
                <a:cs typeface="Calibri" pitchFamily="34" charset="-120"/>
              </a:rPr>
              <a:t>time limit</a:t>
            </a:r>
            <a:endParaRPr lang="en-US" sz="1200" dirty="0"/>
          </a:p>
        </p:txBody>
      </p:sp>
      <p:sp>
        <p:nvSpPr>
          <p:cNvPr id="33" name="Text 27"/>
          <p:cNvSpPr txBox="1"/>
          <p:nvPr/>
        </p:nvSpPr>
        <p:spPr>
          <a:xfrm>
            <a:off x="4754880" y="3429000"/>
            <a:ext cx="1828800" cy="5943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12</a:t>
            </a:r>
            <a:endParaRPr lang="en-US" sz="3400" dirty="0"/>
          </a:p>
        </p:txBody>
      </p:sp>
      <p:sp>
        <p:nvSpPr>
          <p:cNvPr id="34" name="Text 28"/>
          <p:cNvSpPr txBox="1"/>
          <p:nvPr/>
        </p:nvSpPr>
        <p:spPr>
          <a:xfrm>
            <a:off x="4754880" y="4041648"/>
            <a:ext cx="1828800" cy="274320"/>
          </a:xfrm>
          <a:prstGeom prst="rect">
            <a:avLst/>
          </a:prstGeom>
          <a:noFill/>
          <a:ln/>
        </p:spPr>
        <p:txBody>
          <a:bodyPr wrap="square" lIns="0" tIns="0" rIns="0" bIns="0" rtlCol="0" anchor="ctr"/>
          <a:lstStyle/>
          <a:p>
            <a:pPr indent="0" marL="0">
              <a:buNone/>
            </a:pPr>
            <a:r>
              <a:rPr lang="en-US" sz="1200" dirty="0">
                <a:solidFill>
                  <a:srgbClr val="C9D6DD"/>
                </a:solidFill>
                <a:latin typeface="Calibri" pitchFamily="34" charset="0"/>
                <a:ea typeface="Calibri" pitchFamily="34" charset="-122"/>
                <a:cs typeface="Calibri" pitchFamily="34" charset="-120"/>
              </a:rPr>
              <a:t>tool calls</a:t>
            </a:r>
            <a:endParaRPr lang="en-US" sz="1200" dirty="0"/>
          </a:p>
        </p:txBody>
      </p:sp>
      <p:sp>
        <p:nvSpPr>
          <p:cNvPr id="35" name="Text 29"/>
          <p:cNvSpPr txBox="1"/>
          <p:nvPr/>
        </p:nvSpPr>
        <p:spPr>
          <a:xfrm>
            <a:off x="6766560" y="3429000"/>
            <a:ext cx="1828800" cy="5943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a:t>
            </a:r>
            <a:endParaRPr lang="en-US" sz="3400" dirty="0"/>
          </a:p>
        </p:txBody>
      </p:sp>
      <p:sp>
        <p:nvSpPr>
          <p:cNvPr id="36" name="Text 30"/>
          <p:cNvSpPr txBox="1"/>
          <p:nvPr/>
        </p:nvSpPr>
        <p:spPr>
          <a:xfrm>
            <a:off x="6766560" y="4041648"/>
            <a:ext cx="1828800" cy="274320"/>
          </a:xfrm>
          <a:prstGeom prst="rect">
            <a:avLst/>
          </a:prstGeom>
          <a:noFill/>
          <a:ln/>
        </p:spPr>
        <p:txBody>
          <a:bodyPr wrap="square" lIns="0" tIns="0" rIns="0" bIns="0" rtlCol="0" anchor="ctr"/>
          <a:lstStyle/>
          <a:p>
            <a:pPr indent="0" marL="0">
              <a:buNone/>
            </a:pPr>
            <a:r>
              <a:rPr lang="en-US" sz="1200" dirty="0">
                <a:solidFill>
                  <a:srgbClr val="C9D6DD"/>
                </a:solidFill>
                <a:latin typeface="Calibri" pitchFamily="34" charset="0"/>
                <a:ea typeface="Calibri" pitchFamily="34" charset="-122"/>
                <a:cs typeface="Calibri" pitchFamily="34" charset="-120"/>
              </a:rPr>
              <a:t>optional cost cap</a:t>
            </a:r>
            <a:endParaRPr lang="en-US" sz="1200" dirty="0"/>
          </a:p>
        </p:txBody>
      </p:sp>
      <p:sp>
        <p:nvSpPr>
          <p:cNvPr id="37" name="Text 31"/>
          <p:cNvSpPr txBox="1"/>
          <p:nvPr/>
        </p:nvSpPr>
        <p:spPr>
          <a:xfrm>
            <a:off x="8321040" y="4800600"/>
            <a:ext cx="457200" cy="228600"/>
          </a:xfrm>
          <a:prstGeom prst="rect">
            <a:avLst/>
          </a:prstGeom>
          <a:noFill/>
          <a:ln/>
        </p:spPr>
        <p:txBody>
          <a:bodyPr wrap="square" lIns="0" tIns="0" rIns="0" bIns="0" rtlCol="0" anchor="ctr"/>
          <a:lstStyle/>
          <a:p>
            <a:pPr algn="r" indent="0" marL="0">
              <a:buNone/>
            </a:pPr>
            <a:r>
              <a:rPr lang="en-US" sz="900" dirty="0">
                <a:solidFill>
                  <a:srgbClr val="5B6B75"/>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000" b="1" spc="100" kern="0" dirty="0">
                <a:solidFill>
                  <a:srgbClr val="137C86"/>
                </a:solidFill>
                <a:latin typeface="Calibri" pitchFamily="34" charset="0"/>
                <a:ea typeface="Calibri" pitchFamily="34" charset="-122"/>
                <a:cs typeface="Calibri" pitchFamily="34" charset="-120"/>
              </a:rPr>
              <a:t>ADDITION 3 · SAFETY IN CODE</a:t>
            </a:r>
            <a:endParaRPr lang="en-US" sz="1000" dirty="0"/>
          </a:p>
        </p:txBody>
      </p:sp>
      <p:sp>
        <p:nvSpPr>
          <p:cNvPr id="3" name="Text 1"/>
          <p:cNvSpPr txBox="1"/>
          <p:nvPr/>
        </p:nvSpPr>
        <p:spPr>
          <a:xfrm>
            <a:off x="457200" y="530352"/>
            <a:ext cx="8229600" cy="457200"/>
          </a:xfrm>
          <a:prstGeom prst="rect">
            <a:avLst/>
          </a:prstGeom>
          <a:noFill/>
          <a:ln/>
        </p:spPr>
        <p:txBody>
          <a:bodyPr wrap="square" lIns="0" tIns="0" rIns="0" bIns="0" rtlCol="0" anchor="ctr"/>
          <a:lstStyle/>
          <a:p>
            <a:pPr indent="0" marL="0">
              <a:buNone/>
            </a:pPr>
            <a:r>
              <a:rPr lang="en-US" sz="2600" b="1" dirty="0">
                <a:solidFill>
                  <a:srgbClr val="1B2B36"/>
                </a:solidFill>
                <a:latin typeface="Cambria" pitchFamily="34" charset="0"/>
                <a:ea typeface="Cambria" pitchFamily="34" charset="-122"/>
                <a:cs typeface="Cambria" pitchFamily="34" charset="-120"/>
              </a:rPr>
              <a:t>Don't just ask the model to be safe — check it</a:t>
            </a:r>
            <a:endParaRPr lang="en-US" sz="2600" dirty="0"/>
          </a:p>
        </p:txBody>
      </p:sp>
      <p:sp>
        <p:nvSpPr>
          <p:cNvPr id="4" name="Text 2"/>
          <p:cNvSpPr txBox="1"/>
          <p:nvPr/>
        </p:nvSpPr>
        <p:spPr>
          <a:xfrm>
            <a:off x="457200" y="1051560"/>
            <a:ext cx="8229600" cy="411480"/>
          </a:xfrm>
          <a:prstGeom prst="rect">
            <a:avLst/>
          </a:prstGeom>
          <a:noFill/>
          <a:ln/>
        </p:spPr>
        <p:txBody>
          <a:bodyPr wrap="square" lIns="0" tIns="0" rIns="0" bIns="0" rtlCol="0" anchor="ctr"/>
          <a:lstStyle/>
          <a:p>
            <a:pPr indent="0" marL="0">
              <a:buNone/>
            </a:pPr>
            <a:r>
              <a:rPr lang="en-US" sz="1300" dirty="0">
                <a:solidFill>
                  <a:srgbClr val="5B6B75"/>
                </a:solidFill>
                <a:latin typeface="Calibri" pitchFamily="34" charset="0"/>
                <a:ea typeface="Calibri" pitchFamily="34" charset="-122"/>
                <a:cs typeface="Calibri" pitchFamily="34" charset="-120"/>
              </a:rPr>
              <a:t>Rules in a prompt are suggestions. Rules in code are guarantees. Before any answer is sent, these checks run:</a:t>
            </a:r>
            <a:endParaRPr lang="en-US" sz="1300" dirty="0"/>
          </a:p>
        </p:txBody>
      </p:sp>
      <p:sp>
        <p:nvSpPr>
          <p:cNvPr id="5" name="Shape 3"/>
          <p:cNvSpPr/>
          <p:nvPr/>
        </p:nvSpPr>
        <p:spPr>
          <a:xfrm>
            <a:off x="457200" y="1645920"/>
            <a:ext cx="502920" cy="502920"/>
          </a:xfrm>
          <a:prstGeom prst="ellipse">
            <a:avLst/>
          </a:prstGeom>
          <a:solidFill>
            <a:srgbClr val="137C86"/>
          </a:solidFill>
          <a:ln w="12700">
            <a:solidFill>
              <a:srgbClr val="137C86"/>
            </a:solidFill>
            <a:prstDash val="solid"/>
          </a:ln>
        </p:spPr>
      </p:sp>
      <p:pic>
        <p:nvPicPr>
          <p:cNvPr id="6" name="Image 0" descr="preencoded.png">    </p:cNvPr>
          <p:cNvPicPr>
            <a:picLocks noChangeAspect="1"/>
          </p:cNvPicPr>
          <p:nvPr/>
        </p:nvPicPr>
        <p:blipFill>
          <a:blip r:embed="rId1"/>
          <a:stretch>
            <a:fillRect/>
          </a:stretch>
        </p:blipFill>
        <p:spPr>
          <a:xfrm>
            <a:off x="582930" y="1771650"/>
            <a:ext cx="251460" cy="251460"/>
          </a:xfrm>
          <a:prstGeom prst="rect">
            <a:avLst/>
          </a:prstGeom>
        </p:spPr>
      </p:pic>
      <p:sp>
        <p:nvSpPr>
          <p:cNvPr id="7" name="Text 4"/>
          <p:cNvSpPr txBox="1"/>
          <p:nvPr/>
        </p:nvSpPr>
        <p:spPr>
          <a:xfrm>
            <a:off x="1097280" y="1627632"/>
            <a:ext cx="1965960" cy="320040"/>
          </a:xfrm>
          <a:prstGeom prst="rect">
            <a:avLst/>
          </a:prstGeom>
          <a:noFill/>
          <a:ln/>
        </p:spPr>
        <p:txBody>
          <a:bodyPr wrap="square" lIns="0" tIns="0" rIns="0" bIns="0" rtlCol="0" anchor="ctr"/>
          <a:lstStyle/>
          <a:p>
            <a:pPr indent="0" marL="0">
              <a:buNone/>
            </a:pPr>
            <a:r>
              <a:rPr lang="en-US" sz="1300" b="1" dirty="0">
                <a:solidFill>
                  <a:srgbClr val="1B2B36"/>
                </a:solidFill>
                <a:latin typeface="Calibri" pitchFamily="34" charset="0"/>
                <a:ea typeface="Calibri" pitchFamily="34" charset="-122"/>
                <a:cs typeface="Calibri" pitchFamily="34" charset="-120"/>
              </a:rPr>
              <a:t>Real links only</a:t>
            </a:r>
            <a:endParaRPr lang="en-US" sz="1300" dirty="0"/>
          </a:p>
        </p:txBody>
      </p:sp>
      <p:sp>
        <p:nvSpPr>
          <p:cNvPr id="8" name="Text 5"/>
          <p:cNvSpPr txBox="1"/>
          <p:nvPr/>
        </p:nvSpPr>
        <p:spPr>
          <a:xfrm>
            <a:off x="1097280" y="1965960"/>
            <a:ext cx="1965960" cy="868680"/>
          </a:xfrm>
          <a:prstGeom prst="rect">
            <a:avLst/>
          </a:prstGeom>
          <a:noFill/>
          <a:ln/>
        </p:spPr>
        <p:txBody>
          <a:bodyPr wrap="square" lIns="0" tIns="0" rIns="0" bIns="0" rtlCol="0" anchor="t"/>
          <a:lstStyle/>
          <a:p>
            <a:pPr indent="0" marL="0">
              <a:buNone/>
            </a:pPr>
            <a:r>
              <a:rPr lang="en-US" sz="1100" dirty="0">
                <a:solidFill>
                  <a:srgbClr val="5B6B75"/>
                </a:solidFill>
                <a:latin typeface="Calibri" pitchFamily="34" charset="0"/>
                <a:ea typeface="Calibri" pitchFamily="34" charset="-122"/>
                <a:cs typeface="Calibri" pitchFamily="34" charset="-120"/>
              </a:rPr>
              <a:t>Every Vezeeta link must come from the actual search results — no invented doctors.</a:t>
            </a:r>
            <a:endParaRPr lang="en-US" sz="1100" dirty="0"/>
          </a:p>
        </p:txBody>
      </p:sp>
      <p:sp>
        <p:nvSpPr>
          <p:cNvPr id="9" name="Shape 6"/>
          <p:cNvSpPr/>
          <p:nvPr/>
        </p:nvSpPr>
        <p:spPr>
          <a:xfrm>
            <a:off x="3200400" y="1645920"/>
            <a:ext cx="502920" cy="502920"/>
          </a:xfrm>
          <a:prstGeom prst="ellipse">
            <a:avLst/>
          </a:prstGeom>
          <a:solidFill>
            <a:srgbClr val="137C86"/>
          </a:solidFill>
          <a:ln w="12700">
            <a:solidFill>
              <a:srgbClr val="137C86"/>
            </a:solidFill>
            <a:prstDash val="solid"/>
          </a:ln>
        </p:spPr>
      </p:sp>
      <p:pic>
        <p:nvPicPr>
          <p:cNvPr id="10" name="Image 1" descr="preencoded.png">    </p:cNvPr>
          <p:cNvPicPr>
            <a:picLocks noChangeAspect="1"/>
          </p:cNvPicPr>
          <p:nvPr/>
        </p:nvPicPr>
        <p:blipFill>
          <a:blip r:embed="rId2"/>
          <a:stretch>
            <a:fillRect/>
          </a:stretch>
        </p:blipFill>
        <p:spPr>
          <a:xfrm>
            <a:off x="3326130" y="1771650"/>
            <a:ext cx="251460" cy="251460"/>
          </a:xfrm>
          <a:prstGeom prst="rect">
            <a:avLst/>
          </a:prstGeom>
        </p:spPr>
      </p:pic>
      <p:sp>
        <p:nvSpPr>
          <p:cNvPr id="11" name="Text 7"/>
          <p:cNvSpPr txBox="1"/>
          <p:nvPr/>
        </p:nvSpPr>
        <p:spPr>
          <a:xfrm>
            <a:off x="3840480" y="1627632"/>
            <a:ext cx="1965960" cy="320040"/>
          </a:xfrm>
          <a:prstGeom prst="rect">
            <a:avLst/>
          </a:prstGeom>
          <a:noFill/>
          <a:ln/>
        </p:spPr>
        <p:txBody>
          <a:bodyPr wrap="square" lIns="0" tIns="0" rIns="0" bIns="0" rtlCol="0" anchor="ctr"/>
          <a:lstStyle/>
          <a:p>
            <a:pPr indent="0" marL="0">
              <a:buNone/>
            </a:pPr>
            <a:r>
              <a:rPr lang="en-US" sz="1300" b="1" dirty="0">
                <a:solidFill>
                  <a:srgbClr val="1B2B36"/>
                </a:solidFill>
                <a:latin typeface="Calibri" pitchFamily="34" charset="0"/>
                <a:ea typeface="Calibri" pitchFamily="34" charset="-122"/>
                <a:cs typeface="Calibri" pitchFamily="34" charset="-120"/>
              </a:rPr>
              <a:t>Booking-ready</a:t>
            </a:r>
            <a:endParaRPr lang="en-US" sz="1300" dirty="0"/>
          </a:p>
        </p:txBody>
      </p:sp>
      <p:sp>
        <p:nvSpPr>
          <p:cNvPr id="12" name="Text 8"/>
          <p:cNvSpPr txBox="1"/>
          <p:nvPr/>
        </p:nvSpPr>
        <p:spPr>
          <a:xfrm>
            <a:off x="3840480" y="1965960"/>
            <a:ext cx="1965960" cy="868680"/>
          </a:xfrm>
          <a:prstGeom prst="rect">
            <a:avLst/>
          </a:prstGeom>
          <a:noFill/>
          <a:ln/>
        </p:spPr>
        <p:txBody>
          <a:bodyPr wrap="square" lIns="0" tIns="0" rIns="0" bIns="0" rtlCol="0" anchor="t"/>
          <a:lstStyle/>
          <a:p>
            <a:pPr indent="0" marL="0">
              <a:buNone/>
            </a:pPr>
            <a:r>
              <a:rPr lang="en-US" sz="1100" dirty="0">
                <a:solidFill>
                  <a:srgbClr val="5B6B75"/>
                </a:solidFill>
                <a:latin typeface="Calibri" pitchFamily="34" charset="0"/>
                <a:ea typeface="Calibri" pitchFamily="34" charset="-122"/>
                <a:cs typeface="Calibri" pitchFamily="34" charset="-120"/>
              </a:rPr>
              <a:t>Doctor recommendations must include a booking link.</a:t>
            </a:r>
            <a:endParaRPr lang="en-US" sz="1100" dirty="0"/>
          </a:p>
        </p:txBody>
      </p:sp>
      <p:sp>
        <p:nvSpPr>
          <p:cNvPr id="13" name="Shape 9"/>
          <p:cNvSpPr/>
          <p:nvPr/>
        </p:nvSpPr>
        <p:spPr>
          <a:xfrm>
            <a:off x="457200" y="3108960"/>
            <a:ext cx="502920" cy="502920"/>
          </a:xfrm>
          <a:prstGeom prst="ellipse">
            <a:avLst/>
          </a:prstGeom>
          <a:solidFill>
            <a:srgbClr val="C2413B"/>
          </a:solidFill>
          <a:ln w="12700">
            <a:solidFill>
              <a:srgbClr val="C2413B"/>
            </a:solidFill>
            <a:prstDash val="solid"/>
          </a:ln>
        </p:spPr>
      </p:sp>
      <p:pic>
        <p:nvPicPr>
          <p:cNvPr id="14" name="Image 2" descr="preencoded.png">    </p:cNvPr>
          <p:cNvPicPr>
            <a:picLocks noChangeAspect="1"/>
          </p:cNvPicPr>
          <p:nvPr/>
        </p:nvPicPr>
        <p:blipFill>
          <a:blip r:embed="rId3"/>
          <a:stretch>
            <a:fillRect/>
          </a:stretch>
        </p:blipFill>
        <p:spPr>
          <a:xfrm>
            <a:off x="582930" y="3234690"/>
            <a:ext cx="251460" cy="251460"/>
          </a:xfrm>
          <a:prstGeom prst="rect">
            <a:avLst/>
          </a:prstGeom>
        </p:spPr>
      </p:pic>
      <p:sp>
        <p:nvSpPr>
          <p:cNvPr id="15" name="Text 10"/>
          <p:cNvSpPr txBox="1"/>
          <p:nvPr/>
        </p:nvSpPr>
        <p:spPr>
          <a:xfrm>
            <a:off x="1097280" y="3090672"/>
            <a:ext cx="1965960" cy="320040"/>
          </a:xfrm>
          <a:prstGeom prst="rect">
            <a:avLst/>
          </a:prstGeom>
          <a:noFill/>
          <a:ln/>
        </p:spPr>
        <p:txBody>
          <a:bodyPr wrap="square" lIns="0" tIns="0" rIns="0" bIns="0" rtlCol="0" anchor="ctr"/>
          <a:lstStyle/>
          <a:p>
            <a:pPr indent="0" marL="0">
              <a:buNone/>
            </a:pPr>
            <a:r>
              <a:rPr lang="en-US" sz="1300" b="1" dirty="0">
                <a:solidFill>
                  <a:srgbClr val="1B2B36"/>
                </a:solidFill>
                <a:latin typeface="Calibri" pitchFamily="34" charset="0"/>
                <a:ea typeface="Calibri" pitchFamily="34" charset="-122"/>
                <a:cs typeface="Calibri" pitchFamily="34" charset="-120"/>
              </a:rPr>
              <a:t>Emergency number</a:t>
            </a:r>
            <a:endParaRPr lang="en-US" sz="1300" dirty="0"/>
          </a:p>
        </p:txBody>
      </p:sp>
      <p:sp>
        <p:nvSpPr>
          <p:cNvPr id="16" name="Text 11"/>
          <p:cNvSpPr txBox="1"/>
          <p:nvPr/>
        </p:nvSpPr>
        <p:spPr>
          <a:xfrm>
            <a:off x="1097280" y="3429000"/>
            <a:ext cx="1965960" cy="868680"/>
          </a:xfrm>
          <a:prstGeom prst="rect">
            <a:avLst/>
          </a:prstGeom>
          <a:noFill/>
          <a:ln/>
        </p:spPr>
        <p:txBody>
          <a:bodyPr wrap="square" lIns="0" tIns="0" rIns="0" bIns="0" rtlCol="0" anchor="t"/>
          <a:lstStyle/>
          <a:p>
            <a:pPr indent="0" marL="0">
              <a:buNone/>
            </a:pPr>
            <a:r>
              <a:rPr lang="en-US" sz="1100" dirty="0">
                <a:solidFill>
                  <a:srgbClr val="5B6B75"/>
                </a:solidFill>
                <a:latin typeface="Calibri" pitchFamily="34" charset="0"/>
                <a:ea typeface="Calibri" pitchFamily="34" charset="-122"/>
                <a:cs typeface="Calibri" pitchFamily="34" charset="-120"/>
              </a:rPr>
              <a:t>Red-flag symptoms must show the “call 123” warning.</a:t>
            </a:r>
            <a:endParaRPr lang="en-US" sz="1100" dirty="0"/>
          </a:p>
        </p:txBody>
      </p:sp>
      <p:sp>
        <p:nvSpPr>
          <p:cNvPr id="17" name="Shape 12"/>
          <p:cNvSpPr/>
          <p:nvPr/>
        </p:nvSpPr>
        <p:spPr>
          <a:xfrm>
            <a:off x="3200400" y="3108960"/>
            <a:ext cx="502920" cy="502920"/>
          </a:xfrm>
          <a:prstGeom prst="ellipse">
            <a:avLst/>
          </a:prstGeom>
          <a:solidFill>
            <a:srgbClr val="137C86"/>
          </a:solidFill>
          <a:ln w="12700">
            <a:solidFill>
              <a:srgbClr val="137C86"/>
            </a:solidFill>
            <a:prstDash val="solid"/>
          </a:ln>
        </p:spPr>
      </p:sp>
      <p:pic>
        <p:nvPicPr>
          <p:cNvPr id="18" name="Image 3" descr="preencoded.png">    </p:cNvPr>
          <p:cNvPicPr>
            <a:picLocks noChangeAspect="1"/>
          </p:cNvPicPr>
          <p:nvPr/>
        </p:nvPicPr>
        <p:blipFill>
          <a:blip r:embed="rId4"/>
          <a:stretch>
            <a:fillRect/>
          </a:stretch>
        </p:blipFill>
        <p:spPr>
          <a:xfrm>
            <a:off x="3326130" y="3234690"/>
            <a:ext cx="251460" cy="251460"/>
          </a:xfrm>
          <a:prstGeom prst="rect">
            <a:avLst/>
          </a:prstGeom>
        </p:spPr>
      </p:pic>
      <p:sp>
        <p:nvSpPr>
          <p:cNvPr id="19" name="Text 13"/>
          <p:cNvSpPr txBox="1"/>
          <p:nvPr/>
        </p:nvSpPr>
        <p:spPr>
          <a:xfrm>
            <a:off x="3840480" y="3090672"/>
            <a:ext cx="1965960" cy="320040"/>
          </a:xfrm>
          <a:prstGeom prst="rect">
            <a:avLst/>
          </a:prstGeom>
          <a:noFill/>
          <a:ln/>
        </p:spPr>
        <p:txBody>
          <a:bodyPr wrap="square" lIns="0" tIns="0" rIns="0" bIns="0" rtlCol="0" anchor="ctr"/>
          <a:lstStyle/>
          <a:p>
            <a:pPr indent="0" marL="0">
              <a:buNone/>
            </a:pPr>
            <a:r>
              <a:rPr lang="en-US" sz="1300" b="1" dirty="0">
                <a:solidFill>
                  <a:srgbClr val="1B2B36"/>
                </a:solidFill>
                <a:latin typeface="Calibri" pitchFamily="34" charset="0"/>
                <a:ea typeface="Calibri" pitchFamily="34" charset="-122"/>
                <a:cs typeface="Calibri" pitchFamily="34" charset="-120"/>
              </a:rPr>
              <a:t>Right language</a:t>
            </a:r>
            <a:endParaRPr lang="en-US" sz="1300" dirty="0"/>
          </a:p>
        </p:txBody>
      </p:sp>
      <p:sp>
        <p:nvSpPr>
          <p:cNvPr id="20" name="Text 14"/>
          <p:cNvSpPr txBox="1"/>
          <p:nvPr/>
        </p:nvSpPr>
        <p:spPr>
          <a:xfrm>
            <a:off x="3840480" y="3429000"/>
            <a:ext cx="1965960" cy="868680"/>
          </a:xfrm>
          <a:prstGeom prst="rect">
            <a:avLst/>
          </a:prstGeom>
          <a:noFill/>
          <a:ln/>
        </p:spPr>
        <p:txBody>
          <a:bodyPr wrap="square" lIns="0" tIns="0" rIns="0" bIns="0" rtlCol="0" anchor="t"/>
          <a:lstStyle/>
          <a:p>
            <a:pPr indent="0" marL="0">
              <a:buNone/>
            </a:pPr>
            <a:r>
              <a:rPr lang="en-US" sz="1100" dirty="0">
                <a:solidFill>
                  <a:srgbClr val="5B6B75"/>
                </a:solidFill>
                <a:latin typeface="Calibri" pitchFamily="34" charset="0"/>
                <a:ea typeface="Calibri" pitchFamily="34" charset="-122"/>
                <a:cs typeface="Calibri" pitchFamily="34" charset="-120"/>
              </a:rPr>
              <a:t>Reply in the patient's language — Arabic in, Arabic out.</a:t>
            </a:r>
            <a:endParaRPr lang="en-US" sz="1100" dirty="0"/>
          </a:p>
        </p:txBody>
      </p:sp>
      <p:sp>
        <p:nvSpPr>
          <p:cNvPr id="21" name="Shape 15"/>
          <p:cNvSpPr/>
          <p:nvPr/>
        </p:nvSpPr>
        <p:spPr>
          <a:xfrm>
            <a:off x="5943600" y="1645920"/>
            <a:ext cx="2743200" cy="2743200"/>
          </a:xfrm>
          <a:prstGeom prst="roundRect">
            <a:avLst>
              <a:gd name="adj" fmla="val 3333"/>
            </a:avLst>
          </a:prstGeom>
          <a:solidFill>
            <a:srgbClr val="FBEDEB"/>
          </a:solidFill>
          <a:ln w="12700">
            <a:solidFill>
              <a:srgbClr val="FBEDEB"/>
            </a:solidFill>
            <a:prstDash val="solid"/>
          </a:ln>
        </p:spPr>
      </p:sp>
      <p:sp>
        <p:nvSpPr>
          <p:cNvPr id="22" name="Shape 16"/>
          <p:cNvSpPr/>
          <p:nvPr/>
        </p:nvSpPr>
        <p:spPr>
          <a:xfrm>
            <a:off x="6172200" y="1828800"/>
            <a:ext cx="502920" cy="502920"/>
          </a:xfrm>
          <a:prstGeom prst="ellipse">
            <a:avLst/>
          </a:prstGeom>
          <a:solidFill>
            <a:srgbClr val="C2413B"/>
          </a:solidFill>
          <a:ln w="12700">
            <a:solidFill>
              <a:srgbClr val="C2413B"/>
            </a:solidFill>
            <a:prstDash val="solid"/>
          </a:ln>
        </p:spPr>
      </p:sp>
      <p:pic>
        <p:nvPicPr>
          <p:cNvPr id="23" name="Image 4" descr="preencoded.png">    </p:cNvPr>
          <p:cNvPicPr>
            <a:picLocks noChangeAspect="1"/>
          </p:cNvPicPr>
          <p:nvPr/>
        </p:nvPicPr>
        <p:blipFill>
          <a:blip r:embed="rId5"/>
          <a:stretch>
            <a:fillRect/>
          </a:stretch>
        </p:blipFill>
        <p:spPr>
          <a:xfrm>
            <a:off x="6297930" y="1954530"/>
            <a:ext cx="251460" cy="251460"/>
          </a:xfrm>
          <a:prstGeom prst="rect">
            <a:avLst/>
          </a:prstGeom>
        </p:spPr>
      </p:pic>
      <p:sp>
        <p:nvSpPr>
          <p:cNvPr id="24" name="Text 17"/>
          <p:cNvSpPr txBox="1"/>
          <p:nvPr/>
        </p:nvSpPr>
        <p:spPr>
          <a:xfrm>
            <a:off x="6172200" y="2423160"/>
            <a:ext cx="2377440" cy="320040"/>
          </a:xfrm>
          <a:prstGeom prst="rect">
            <a:avLst/>
          </a:prstGeom>
          <a:noFill/>
          <a:ln/>
        </p:spPr>
        <p:txBody>
          <a:bodyPr wrap="square" lIns="0" tIns="0" rIns="0" bIns="0" rtlCol="0" anchor="ctr"/>
          <a:lstStyle/>
          <a:p>
            <a:pPr indent="0" marL="0">
              <a:buNone/>
            </a:pPr>
            <a:r>
              <a:rPr lang="en-US" sz="1500" b="1" dirty="0">
                <a:solidFill>
                  <a:srgbClr val="1B2B36"/>
                </a:solidFill>
                <a:latin typeface="Cambria" pitchFamily="34" charset="0"/>
                <a:ea typeface="Cambria" pitchFamily="34" charset="-122"/>
                <a:cs typeface="Cambria" pitchFamily="34" charset="-120"/>
              </a:rPr>
              <a:t>Red-flag detector</a:t>
            </a:r>
            <a:endParaRPr lang="en-US" sz="1500" dirty="0"/>
          </a:p>
        </p:txBody>
      </p:sp>
      <p:sp>
        <p:nvSpPr>
          <p:cNvPr id="25" name="Text 18"/>
          <p:cNvSpPr txBox="1"/>
          <p:nvPr/>
        </p:nvSpPr>
        <p:spPr>
          <a:xfrm>
            <a:off x="6172200" y="2743200"/>
            <a:ext cx="2331720" cy="1005840"/>
          </a:xfrm>
          <a:prstGeom prst="rect">
            <a:avLst/>
          </a:prstGeom>
          <a:noFill/>
          <a:ln/>
        </p:spPr>
        <p:txBody>
          <a:bodyPr wrap="square" lIns="0" tIns="0" rIns="0" bIns="0" rtlCol="0" anchor="t"/>
          <a:lstStyle/>
          <a:p>
            <a:pPr indent="0" marL="0">
              <a:buNone/>
            </a:pPr>
            <a:r>
              <a:rPr lang="en-US" sz="1100" dirty="0">
                <a:solidFill>
                  <a:srgbClr val="1B2B36"/>
                </a:solidFill>
                <a:latin typeface="Calibri" pitchFamily="34" charset="0"/>
                <a:ea typeface="Calibri" pitchFamily="34" charset="-122"/>
                <a:cs typeface="Calibri" pitchFamily="34" charset="-120"/>
              </a:rPr>
              <a:t>A fast rule-based check catches chest pain, stroke signs and more — in English and Egyptian Arabic — before the AI even runs.</a:t>
            </a:r>
            <a:endParaRPr lang="en-US" sz="1100" dirty="0"/>
          </a:p>
        </p:txBody>
      </p:sp>
      <p:sp>
        <p:nvSpPr>
          <p:cNvPr id="26" name="Text 19"/>
          <p:cNvSpPr txBox="1"/>
          <p:nvPr/>
        </p:nvSpPr>
        <p:spPr>
          <a:xfrm>
            <a:off x="6172200" y="3794760"/>
            <a:ext cx="2377440" cy="365760"/>
          </a:xfrm>
          <a:prstGeom prst="rect">
            <a:avLst/>
          </a:prstGeom>
          <a:noFill/>
          <a:ln/>
        </p:spPr>
        <p:txBody>
          <a:bodyPr wrap="square" lIns="0" tIns="0" rIns="0" bIns="0" rtlCol="0" anchor="ctr"/>
          <a:lstStyle/>
          <a:p>
            <a:pPr indent="0" marL="0">
              <a:buNone/>
            </a:pPr>
            <a:r>
              <a:rPr lang="en-US" sz="1200" b="1" dirty="0">
                <a:solidFill>
                  <a:srgbClr val="C2413B"/>
                </a:solidFill>
                <a:latin typeface="Calibri" pitchFamily="34" charset="0"/>
                <a:ea typeface="Calibri" pitchFamily="34" charset="-122"/>
                <a:cs typeface="Calibri" pitchFamily="34" charset="-120"/>
              </a:rPr>
              <a:t>“وشها مايل ولسانها تقيل” → 123</a:t>
            </a:r>
            <a:endParaRPr lang="en-US" sz="1200" dirty="0"/>
          </a:p>
        </p:txBody>
      </p:sp>
      <p:sp>
        <p:nvSpPr>
          <p:cNvPr id="27" name="Text 20"/>
          <p:cNvSpPr txBox="1"/>
          <p:nvPr/>
        </p:nvSpPr>
        <p:spPr>
          <a:xfrm>
            <a:off x="8321040" y="4800600"/>
            <a:ext cx="457200" cy="228600"/>
          </a:xfrm>
          <a:prstGeom prst="rect">
            <a:avLst/>
          </a:prstGeom>
          <a:noFill/>
          <a:ln/>
        </p:spPr>
        <p:txBody>
          <a:bodyPr wrap="square" lIns="0" tIns="0" rIns="0" bIns="0" rtlCol="0" anchor="ctr"/>
          <a:lstStyle/>
          <a:p>
            <a:pPr algn="r" indent="0" marL="0">
              <a:buNone/>
            </a:pPr>
            <a:r>
              <a:rPr lang="en-US" sz="900" dirty="0">
                <a:solidFill>
                  <a:srgbClr val="5B6B75"/>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000" b="1" spc="100" kern="0" dirty="0">
                <a:solidFill>
                  <a:srgbClr val="137C86"/>
                </a:solidFill>
                <a:latin typeface="Calibri" pitchFamily="34" charset="0"/>
                <a:ea typeface="Calibri" pitchFamily="34" charset="-122"/>
                <a:cs typeface="Calibri" pitchFamily="34" charset="-120"/>
              </a:rPr>
              <a:t>SMALLER BUT IMPORTANT</a:t>
            </a:r>
            <a:endParaRPr lang="en-US" sz="1000" dirty="0"/>
          </a:p>
        </p:txBody>
      </p:sp>
      <p:sp>
        <p:nvSpPr>
          <p:cNvPr id="3" name="Text 1"/>
          <p:cNvSpPr txBox="1"/>
          <p:nvPr/>
        </p:nvSpPr>
        <p:spPr>
          <a:xfrm>
            <a:off x="457200" y="530352"/>
            <a:ext cx="8229600" cy="457200"/>
          </a:xfrm>
          <a:prstGeom prst="rect">
            <a:avLst/>
          </a:prstGeom>
          <a:noFill/>
          <a:ln/>
        </p:spPr>
        <p:txBody>
          <a:bodyPr wrap="square" lIns="0" tIns="0" rIns="0" bIns="0" rtlCol="0" anchor="ctr"/>
          <a:lstStyle/>
          <a:p>
            <a:pPr indent="0" marL="0">
              <a:buNone/>
            </a:pPr>
            <a:r>
              <a:rPr lang="en-US" sz="2600" b="1" dirty="0">
                <a:solidFill>
                  <a:srgbClr val="1B2B36"/>
                </a:solidFill>
                <a:latin typeface="Cambria" pitchFamily="34" charset="0"/>
                <a:ea typeface="Cambria" pitchFamily="34" charset="-122"/>
                <a:cs typeface="Cambria" pitchFamily="34" charset="-120"/>
              </a:rPr>
              <a:t>Smarter search &amp; a better everyday experience</a:t>
            </a:r>
            <a:endParaRPr lang="en-US" sz="2600" dirty="0"/>
          </a:p>
        </p:txBody>
      </p:sp>
      <p:sp>
        <p:nvSpPr>
          <p:cNvPr id="4" name="Shape 2"/>
          <p:cNvSpPr/>
          <p:nvPr/>
        </p:nvSpPr>
        <p:spPr>
          <a:xfrm>
            <a:off x="457200" y="1188720"/>
            <a:ext cx="3931920" cy="3383280"/>
          </a:xfrm>
          <a:prstGeom prst="roundRect">
            <a:avLst>
              <a:gd name="adj" fmla="val 2162"/>
            </a:avLst>
          </a:prstGeom>
          <a:solidFill>
            <a:srgbClr val="EEF4F6"/>
          </a:solidFill>
          <a:ln w="12700">
            <a:solidFill>
              <a:srgbClr val="EEF4F6"/>
            </a:solidFill>
            <a:prstDash val="solid"/>
          </a:ln>
        </p:spPr>
      </p:sp>
      <p:sp>
        <p:nvSpPr>
          <p:cNvPr id="5" name="Text 3"/>
          <p:cNvSpPr txBox="1"/>
          <p:nvPr/>
        </p:nvSpPr>
        <p:spPr>
          <a:xfrm>
            <a:off x="685800" y="1325880"/>
            <a:ext cx="3566160" cy="320040"/>
          </a:xfrm>
          <a:prstGeom prst="rect">
            <a:avLst/>
          </a:prstGeom>
          <a:noFill/>
          <a:ln/>
        </p:spPr>
        <p:txBody>
          <a:bodyPr wrap="square" lIns="0" tIns="0" rIns="0" bIns="0" rtlCol="0" anchor="ctr"/>
          <a:lstStyle/>
          <a:p>
            <a:pPr indent="0" marL="0">
              <a:buNone/>
            </a:pPr>
            <a:r>
              <a:rPr lang="en-US" sz="1400" b="1" dirty="0">
                <a:solidFill>
                  <a:srgbClr val="1B2B36"/>
                </a:solidFill>
                <a:latin typeface="Cambria" pitchFamily="34" charset="0"/>
                <a:ea typeface="Cambria" pitchFamily="34" charset="-122"/>
                <a:cs typeface="Cambria" pitchFamily="34" charset="-120"/>
              </a:rPr>
              <a:t>Understands how people really write</a:t>
            </a:r>
            <a:endParaRPr lang="en-US" sz="1400" dirty="0"/>
          </a:p>
        </p:txBody>
      </p:sp>
      <p:sp>
        <p:nvSpPr>
          <p:cNvPr id="6" name="Shape 4"/>
          <p:cNvSpPr/>
          <p:nvPr/>
        </p:nvSpPr>
        <p:spPr>
          <a:xfrm>
            <a:off x="685800" y="1783080"/>
            <a:ext cx="1600200" cy="411480"/>
          </a:xfrm>
          <a:prstGeom prst="roundRect">
            <a:avLst>
              <a:gd name="adj" fmla="val 13333"/>
            </a:avLst>
          </a:prstGeom>
          <a:solidFill>
            <a:srgbClr val="FFFFFF"/>
          </a:solidFill>
          <a:ln w="12700">
            <a:solidFill>
              <a:srgbClr val="D5E0E5"/>
            </a:solidFill>
            <a:prstDash val="solid"/>
          </a:ln>
        </p:spPr>
      </p:sp>
      <p:sp>
        <p:nvSpPr>
          <p:cNvPr id="7" name="Text 5"/>
          <p:cNvSpPr txBox="1"/>
          <p:nvPr/>
        </p:nvSpPr>
        <p:spPr>
          <a:xfrm>
            <a:off x="685800" y="1783080"/>
            <a:ext cx="1600200" cy="411480"/>
          </a:xfrm>
          <a:prstGeom prst="rect">
            <a:avLst/>
          </a:prstGeom>
          <a:noFill/>
          <a:ln/>
        </p:spPr>
        <p:txBody>
          <a:bodyPr wrap="square" lIns="0" tIns="0" rIns="0" bIns="0" rtlCol="0" anchor="ctr"/>
          <a:lstStyle/>
          <a:p>
            <a:pPr algn="ctr" indent="0" marL="0">
              <a:buNone/>
            </a:pPr>
            <a:r>
              <a:rPr lang="en-US" sz="1100" dirty="0">
                <a:solidFill>
                  <a:srgbClr val="1B2B36"/>
                </a:solidFill>
                <a:latin typeface="Calibri" pitchFamily="34" charset="0"/>
                <a:ea typeface="Calibri" pitchFamily="34" charset="-122"/>
                <a:cs typeface="Calibri" pitchFamily="34" charset="-120"/>
              </a:rPr>
              <a:t>المعادي</a:t>
            </a:r>
            <a:endParaRPr lang="en-US" sz="1100" dirty="0"/>
          </a:p>
        </p:txBody>
      </p:sp>
      <p:sp>
        <p:nvSpPr>
          <p:cNvPr id="8" name="Shape 6"/>
          <p:cNvSpPr/>
          <p:nvPr/>
        </p:nvSpPr>
        <p:spPr>
          <a:xfrm>
            <a:off x="2377440" y="1988820"/>
            <a:ext cx="365760" cy="0"/>
          </a:xfrm>
          <a:prstGeom prst="line">
            <a:avLst/>
          </a:prstGeom>
          <a:noFill/>
          <a:ln w="25400">
            <a:solidFill>
              <a:srgbClr val="137C86"/>
            </a:solidFill>
            <a:prstDash val="solid"/>
            <a:tailEnd type="triangle"/>
          </a:ln>
        </p:spPr>
      </p:sp>
      <p:sp>
        <p:nvSpPr>
          <p:cNvPr id="9" name="Shape 7"/>
          <p:cNvSpPr/>
          <p:nvPr/>
        </p:nvSpPr>
        <p:spPr>
          <a:xfrm>
            <a:off x="2834640" y="1783080"/>
            <a:ext cx="1325880" cy="411480"/>
          </a:xfrm>
          <a:prstGeom prst="roundRect">
            <a:avLst>
              <a:gd name="adj" fmla="val 13333"/>
            </a:avLst>
          </a:prstGeom>
          <a:solidFill>
            <a:srgbClr val="137C86"/>
          </a:solidFill>
          <a:ln w="12700">
            <a:solidFill>
              <a:srgbClr val="137C86"/>
            </a:solidFill>
            <a:prstDash val="solid"/>
          </a:ln>
        </p:spPr>
      </p:sp>
      <p:sp>
        <p:nvSpPr>
          <p:cNvPr id="10" name="Text 8"/>
          <p:cNvSpPr txBox="1"/>
          <p:nvPr/>
        </p:nvSpPr>
        <p:spPr>
          <a:xfrm>
            <a:off x="2834640" y="1783080"/>
            <a:ext cx="132588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El-Maadi</a:t>
            </a:r>
            <a:endParaRPr lang="en-US" sz="1100" dirty="0"/>
          </a:p>
        </p:txBody>
      </p:sp>
      <p:sp>
        <p:nvSpPr>
          <p:cNvPr id="11" name="Shape 9"/>
          <p:cNvSpPr/>
          <p:nvPr/>
        </p:nvSpPr>
        <p:spPr>
          <a:xfrm>
            <a:off x="685800" y="2331720"/>
            <a:ext cx="1600200" cy="411480"/>
          </a:xfrm>
          <a:prstGeom prst="roundRect">
            <a:avLst>
              <a:gd name="adj" fmla="val 13333"/>
            </a:avLst>
          </a:prstGeom>
          <a:solidFill>
            <a:srgbClr val="FFFFFF"/>
          </a:solidFill>
          <a:ln w="12700">
            <a:solidFill>
              <a:srgbClr val="D5E0E5"/>
            </a:solidFill>
            <a:prstDash val="solid"/>
          </a:ln>
        </p:spPr>
      </p:sp>
      <p:sp>
        <p:nvSpPr>
          <p:cNvPr id="12" name="Text 10"/>
          <p:cNvSpPr txBox="1"/>
          <p:nvPr/>
        </p:nvSpPr>
        <p:spPr>
          <a:xfrm>
            <a:off x="685800" y="2331720"/>
            <a:ext cx="1600200" cy="411480"/>
          </a:xfrm>
          <a:prstGeom prst="rect">
            <a:avLst/>
          </a:prstGeom>
          <a:noFill/>
          <a:ln/>
        </p:spPr>
        <p:txBody>
          <a:bodyPr wrap="square" lIns="0" tIns="0" rIns="0" bIns="0" rtlCol="0" anchor="ctr"/>
          <a:lstStyle/>
          <a:p>
            <a:pPr algn="ctr" indent="0" marL="0">
              <a:buNone/>
            </a:pPr>
            <a:r>
              <a:rPr lang="en-US" sz="1100" dirty="0">
                <a:solidFill>
                  <a:srgbClr val="1B2B36"/>
                </a:solidFill>
                <a:latin typeface="Calibri" pitchFamily="34" charset="0"/>
                <a:ea typeface="Calibri" pitchFamily="34" charset="-122"/>
                <a:cs typeface="Calibri" pitchFamily="34" charset="-120"/>
              </a:rPr>
              <a:t>Nasr city / مدينة نصر</a:t>
            </a:r>
            <a:endParaRPr lang="en-US" sz="1100" dirty="0"/>
          </a:p>
        </p:txBody>
      </p:sp>
      <p:sp>
        <p:nvSpPr>
          <p:cNvPr id="13" name="Shape 11"/>
          <p:cNvSpPr/>
          <p:nvPr/>
        </p:nvSpPr>
        <p:spPr>
          <a:xfrm>
            <a:off x="2377440" y="2537460"/>
            <a:ext cx="365760" cy="0"/>
          </a:xfrm>
          <a:prstGeom prst="line">
            <a:avLst/>
          </a:prstGeom>
          <a:noFill/>
          <a:ln w="25400">
            <a:solidFill>
              <a:srgbClr val="137C86"/>
            </a:solidFill>
            <a:prstDash val="solid"/>
            <a:tailEnd type="triangle"/>
          </a:ln>
        </p:spPr>
      </p:sp>
      <p:sp>
        <p:nvSpPr>
          <p:cNvPr id="14" name="Shape 12"/>
          <p:cNvSpPr/>
          <p:nvPr/>
        </p:nvSpPr>
        <p:spPr>
          <a:xfrm>
            <a:off x="2834640" y="2331720"/>
            <a:ext cx="1325880" cy="411480"/>
          </a:xfrm>
          <a:prstGeom prst="roundRect">
            <a:avLst>
              <a:gd name="adj" fmla="val 13333"/>
            </a:avLst>
          </a:prstGeom>
          <a:solidFill>
            <a:srgbClr val="137C86"/>
          </a:solidFill>
          <a:ln w="12700">
            <a:solidFill>
              <a:srgbClr val="137C86"/>
            </a:solidFill>
            <a:prstDash val="solid"/>
          </a:ln>
        </p:spPr>
      </p:sp>
      <p:sp>
        <p:nvSpPr>
          <p:cNvPr id="15" name="Text 13"/>
          <p:cNvSpPr txBox="1"/>
          <p:nvPr/>
        </p:nvSpPr>
        <p:spPr>
          <a:xfrm>
            <a:off x="2834640" y="2331720"/>
            <a:ext cx="132588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Nasr City</a:t>
            </a:r>
            <a:endParaRPr lang="en-US" sz="1100" dirty="0"/>
          </a:p>
        </p:txBody>
      </p:sp>
      <p:sp>
        <p:nvSpPr>
          <p:cNvPr id="16" name="Shape 14"/>
          <p:cNvSpPr/>
          <p:nvPr/>
        </p:nvSpPr>
        <p:spPr>
          <a:xfrm>
            <a:off x="685800" y="2880360"/>
            <a:ext cx="1600200" cy="411480"/>
          </a:xfrm>
          <a:prstGeom prst="roundRect">
            <a:avLst>
              <a:gd name="adj" fmla="val 13333"/>
            </a:avLst>
          </a:prstGeom>
          <a:solidFill>
            <a:srgbClr val="FFFFFF"/>
          </a:solidFill>
          <a:ln w="12700">
            <a:solidFill>
              <a:srgbClr val="D5E0E5"/>
            </a:solidFill>
            <a:prstDash val="solid"/>
          </a:ln>
        </p:spPr>
      </p:sp>
      <p:sp>
        <p:nvSpPr>
          <p:cNvPr id="17" name="Text 15"/>
          <p:cNvSpPr txBox="1"/>
          <p:nvPr/>
        </p:nvSpPr>
        <p:spPr>
          <a:xfrm>
            <a:off x="685800" y="2880360"/>
            <a:ext cx="1600200" cy="411480"/>
          </a:xfrm>
          <a:prstGeom prst="rect">
            <a:avLst/>
          </a:prstGeom>
          <a:noFill/>
          <a:ln/>
        </p:spPr>
        <p:txBody>
          <a:bodyPr wrap="square" lIns="0" tIns="0" rIns="0" bIns="0" rtlCol="0" anchor="ctr"/>
          <a:lstStyle/>
          <a:p>
            <a:pPr algn="ctr" indent="0" marL="0">
              <a:buNone/>
            </a:pPr>
            <a:r>
              <a:rPr lang="en-US" sz="1100" dirty="0">
                <a:solidFill>
                  <a:srgbClr val="1B2B36"/>
                </a:solidFill>
                <a:latin typeface="Calibri" pitchFamily="34" charset="0"/>
                <a:ea typeface="Calibri" pitchFamily="34" charset="-122"/>
                <a:cs typeface="Calibri" pitchFamily="34" charset="-120"/>
              </a:rPr>
              <a:t>dentist / سنان</a:t>
            </a:r>
            <a:endParaRPr lang="en-US" sz="1100" dirty="0"/>
          </a:p>
        </p:txBody>
      </p:sp>
      <p:sp>
        <p:nvSpPr>
          <p:cNvPr id="18" name="Shape 16"/>
          <p:cNvSpPr/>
          <p:nvPr/>
        </p:nvSpPr>
        <p:spPr>
          <a:xfrm>
            <a:off x="2377440" y="3086100"/>
            <a:ext cx="365760" cy="0"/>
          </a:xfrm>
          <a:prstGeom prst="line">
            <a:avLst/>
          </a:prstGeom>
          <a:noFill/>
          <a:ln w="25400">
            <a:solidFill>
              <a:srgbClr val="137C86"/>
            </a:solidFill>
            <a:prstDash val="solid"/>
            <a:tailEnd type="triangle"/>
          </a:ln>
        </p:spPr>
      </p:sp>
      <p:sp>
        <p:nvSpPr>
          <p:cNvPr id="19" name="Shape 17"/>
          <p:cNvSpPr/>
          <p:nvPr/>
        </p:nvSpPr>
        <p:spPr>
          <a:xfrm>
            <a:off x="2834640" y="2880360"/>
            <a:ext cx="1325880" cy="411480"/>
          </a:xfrm>
          <a:prstGeom prst="roundRect">
            <a:avLst>
              <a:gd name="adj" fmla="val 13333"/>
            </a:avLst>
          </a:prstGeom>
          <a:solidFill>
            <a:srgbClr val="137C86"/>
          </a:solidFill>
          <a:ln w="12700">
            <a:solidFill>
              <a:srgbClr val="137C86"/>
            </a:solidFill>
            <a:prstDash val="solid"/>
          </a:ln>
        </p:spPr>
      </p:sp>
      <p:sp>
        <p:nvSpPr>
          <p:cNvPr id="20" name="Text 18"/>
          <p:cNvSpPr txBox="1"/>
          <p:nvPr/>
        </p:nvSpPr>
        <p:spPr>
          <a:xfrm>
            <a:off x="2834640" y="2880360"/>
            <a:ext cx="132588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Dentistry</a:t>
            </a:r>
            <a:endParaRPr lang="en-US" sz="1100" dirty="0"/>
          </a:p>
        </p:txBody>
      </p:sp>
      <p:sp>
        <p:nvSpPr>
          <p:cNvPr id="21" name="Text 19"/>
          <p:cNvSpPr txBox="1"/>
          <p:nvPr/>
        </p:nvSpPr>
        <p:spPr>
          <a:xfrm>
            <a:off x="685800" y="3566160"/>
            <a:ext cx="3520440" cy="822960"/>
          </a:xfrm>
          <a:prstGeom prst="rect">
            <a:avLst/>
          </a:prstGeom>
          <a:noFill/>
          <a:ln/>
        </p:spPr>
        <p:txBody>
          <a:bodyPr wrap="square" lIns="0" tIns="0" rIns="0" bIns="0" rtlCol="0" anchor="t"/>
          <a:lstStyle/>
          <a:p>
            <a:pPr indent="0" marL="0">
              <a:buNone/>
            </a:pPr>
            <a:r>
              <a:rPr lang="en-US" sz="1200" i="1" dirty="0">
                <a:solidFill>
                  <a:srgbClr val="5B6B75"/>
                </a:solidFill>
                <a:latin typeface="Calibri" pitchFamily="34" charset="0"/>
                <a:ea typeface="Calibri" pitchFamily="34" charset="-122"/>
                <a:cs typeface="Calibri" pitchFamily="34" charset="-120"/>
              </a:rPr>
              <a:t>No exact match? Filters relax step by step instead of returning “no doctors found”.</a:t>
            </a:r>
            <a:endParaRPr lang="en-US" sz="1200" dirty="0"/>
          </a:p>
        </p:txBody>
      </p:sp>
      <p:sp>
        <p:nvSpPr>
          <p:cNvPr id="22" name="Shape 20"/>
          <p:cNvSpPr/>
          <p:nvPr/>
        </p:nvSpPr>
        <p:spPr>
          <a:xfrm>
            <a:off x="4754880" y="1188720"/>
            <a:ext cx="457200" cy="457200"/>
          </a:xfrm>
          <a:prstGeom prst="ellipse">
            <a:avLst/>
          </a:prstGeom>
          <a:solidFill>
            <a:srgbClr val="1BBF9C"/>
          </a:solidFill>
          <a:ln w="12700">
            <a:solidFill>
              <a:srgbClr val="1BBF9C"/>
            </a:solidFill>
            <a:prstDash val="solid"/>
          </a:ln>
        </p:spPr>
      </p:sp>
      <p:pic>
        <p:nvPicPr>
          <p:cNvPr id="23" name="Image 0" descr="preencoded.png">    </p:cNvPr>
          <p:cNvPicPr>
            <a:picLocks noChangeAspect="1"/>
          </p:cNvPicPr>
          <p:nvPr/>
        </p:nvPicPr>
        <p:blipFill>
          <a:blip r:embed="rId1"/>
          <a:stretch>
            <a:fillRect/>
          </a:stretch>
        </p:blipFill>
        <p:spPr>
          <a:xfrm>
            <a:off x="4869180" y="1303020"/>
            <a:ext cx="228600" cy="228600"/>
          </a:xfrm>
          <a:prstGeom prst="rect">
            <a:avLst/>
          </a:prstGeom>
        </p:spPr>
      </p:pic>
      <p:sp>
        <p:nvSpPr>
          <p:cNvPr id="24" name="Text 21"/>
          <p:cNvSpPr txBox="1"/>
          <p:nvPr/>
        </p:nvSpPr>
        <p:spPr>
          <a:xfrm>
            <a:off x="5349240" y="1161288"/>
            <a:ext cx="3337560" cy="274320"/>
          </a:xfrm>
          <a:prstGeom prst="rect">
            <a:avLst/>
          </a:prstGeom>
          <a:noFill/>
          <a:ln/>
        </p:spPr>
        <p:txBody>
          <a:bodyPr wrap="square" lIns="0" tIns="0" rIns="0" bIns="0" rtlCol="0" anchor="ctr"/>
          <a:lstStyle/>
          <a:p>
            <a:pPr indent="0" marL="0">
              <a:buNone/>
            </a:pPr>
            <a:r>
              <a:rPr lang="en-US" sz="1300" b="1" dirty="0">
                <a:solidFill>
                  <a:srgbClr val="1B2B36"/>
                </a:solidFill>
                <a:latin typeface="Calibri" pitchFamily="34" charset="0"/>
                <a:ea typeface="Calibri" pitchFamily="34" charset="-122"/>
                <a:cs typeface="Calibri" pitchFamily="34" charset="-120"/>
              </a:rPr>
              <a:t>Telegram bot</a:t>
            </a:r>
            <a:endParaRPr lang="en-US" sz="1300" dirty="0"/>
          </a:p>
        </p:txBody>
      </p:sp>
      <p:sp>
        <p:nvSpPr>
          <p:cNvPr id="25" name="Text 22"/>
          <p:cNvSpPr txBox="1"/>
          <p:nvPr/>
        </p:nvSpPr>
        <p:spPr>
          <a:xfrm>
            <a:off x="5349240" y="1444752"/>
            <a:ext cx="3337560" cy="502920"/>
          </a:xfrm>
          <a:prstGeom prst="rect">
            <a:avLst/>
          </a:prstGeom>
          <a:noFill/>
          <a:ln/>
        </p:spPr>
        <p:txBody>
          <a:bodyPr wrap="square" lIns="0" tIns="0" rIns="0" bIns="0" rtlCol="0" anchor="t"/>
          <a:lstStyle/>
          <a:p>
            <a:pPr indent="0" marL="0">
              <a:buNone/>
            </a:pPr>
            <a:r>
              <a:rPr lang="en-US" sz="1100" dirty="0">
                <a:solidFill>
                  <a:srgbClr val="5B6B75"/>
                </a:solidFill>
                <a:latin typeface="Calibri" pitchFamily="34" charset="0"/>
                <a:ea typeface="Calibri" pitchFamily="34" charset="-122"/>
                <a:cs typeface="Calibri" pitchFamily="34" charset="-120"/>
              </a:rPr>
              <a:t>Commands (/start, /reset, /emergency…), long replies split cleanly, nice formatting, secured webhook.</a:t>
            </a:r>
            <a:endParaRPr lang="en-US" sz="1100" dirty="0"/>
          </a:p>
        </p:txBody>
      </p:sp>
      <p:sp>
        <p:nvSpPr>
          <p:cNvPr id="26" name="Shape 23"/>
          <p:cNvSpPr/>
          <p:nvPr/>
        </p:nvSpPr>
        <p:spPr>
          <a:xfrm>
            <a:off x="4754880" y="2039112"/>
            <a:ext cx="457200" cy="457200"/>
          </a:xfrm>
          <a:prstGeom prst="ellipse">
            <a:avLst/>
          </a:prstGeom>
          <a:solidFill>
            <a:srgbClr val="1BBF9C"/>
          </a:solidFill>
          <a:ln w="12700">
            <a:solidFill>
              <a:srgbClr val="1BBF9C"/>
            </a:solidFill>
            <a:prstDash val="solid"/>
          </a:ln>
        </p:spPr>
      </p:sp>
      <p:pic>
        <p:nvPicPr>
          <p:cNvPr id="27" name="Image 1" descr="preencoded.png">    </p:cNvPr>
          <p:cNvPicPr>
            <a:picLocks noChangeAspect="1"/>
          </p:cNvPicPr>
          <p:nvPr/>
        </p:nvPicPr>
        <p:blipFill>
          <a:blip r:embed="rId2"/>
          <a:stretch>
            <a:fillRect/>
          </a:stretch>
        </p:blipFill>
        <p:spPr>
          <a:xfrm>
            <a:off x="4869180" y="2153412"/>
            <a:ext cx="228600" cy="228600"/>
          </a:xfrm>
          <a:prstGeom prst="rect">
            <a:avLst/>
          </a:prstGeom>
        </p:spPr>
      </p:pic>
      <p:sp>
        <p:nvSpPr>
          <p:cNvPr id="28" name="Text 24"/>
          <p:cNvSpPr txBox="1"/>
          <p:nvPr/>
        </p:nvSpPr>
        <p:spPr>
          <a:xfrm>
            <a:off x="5349240" y="2011680"/>
            <a:ext cx="3337560" cy="274320"/>
          </a:xfrm>
          <a:prstGeom prst="rect">
            <a:avLst/>
          </a:prstGeom>
          <a:noFill/>
          <a:ln/>
        </p:spPr>
        <p:txBody>
          <a:bodyPr wrap="square" lIns="0" tIns="0" rIns="0" bIns="0" rtlCol="0" anchor="ctr"/>
          <a:lstStyle/>
          <a:p>
            <a:pPr indent="0" marL="0">
              <a:buNone/>
            </a:pPr>
            <a:r>
              <a:rPr lang="en-US" sz="1300" b="1" dirty="0">
                <a:solidFill>
                  <a:srgbClr val="1B2B36"/>
                </a:solidFill>
                <a:latin typeface="Calibri" pitchFamily="34" charset="0"/>
                <a:ea typeface="Calibri" pitchFamily="34" charset="-122"/>
                <a:cs typeface="Calibri" pitchFamily="34" charset="-120"/>
              </a:rPr>
              <a:t>Conversation memory</a:t>
            </a:r>
            <a:endParaRPr lang="en-US" sz="1300" dirty="0"/>
          </a:p>
        </p:txBody>
      </p:sp>
      <p:sp>
        <p:nvSpPr>
          <p:cNvPr id="29" name="Text 25"/>
          <p:cNvSpPr txBox="1"/>
          <p:nvPr/>
        </p:nvSpPr>
        <p:spPr>
          <a:xfrm>
            <a:off x="5349240" y="2295144"/>
            <a:ext cx="3337560" cy="502920"/>
          </a:xfrm>
          <a:prstGeom prst="rect">
            <a:avLst/>
          </a:prstGeom>
          <a:noFill/>
          <a:ln/>
        </p:spPr>
        <p:txBody>
          <a:bodyPr wrap="square" lIns="0" tIns="0" rIns="0" bIns="0" rtlCol="0" anchor="t"/>
          <a:lstStyle/>
          <a:p>
            <a:pPr indent="0" marL="0">
              <a:buNone/>
            </a:pPr>
            <a:r>
              <a:rPr lang="en-US" sz="1100" dirty="0">
                <a:solidFill>
                  <a:srgbClr val="5B6B75"/>
                </a:solidFill>
                <a:latin typeface="Calibri" pitchFamily="34" charset="0"/>
                <a:ea typeface="Calibri" pitchFamily="34" charset="-122"/>
                <a:cs typeface="Calibri" pitchFamily="34" charset="-120"/>
              </a:rPr>
              <a:t>Sessions remember the chat, so patients don't repeat themselves.</a:t>
            </a:r>
            <a:endParaRPr lang="en-US" sz="1100" dirty="0"/>
          </a:p>
        </p:txBody>
      </p:sp>
      <p:sp>
        <p:nvSpPr>
          <p:cNvPr id="30" name="Shape 26"/>
          <p:cNvSpPr/>
          <p:nvPr/>
        </p:nvSpPr>
        <p:spPr>
          <a:xfrm>
            <a:off x="4754880" y="2889504"/>
            <a:ext cx="457200" cy="457200"/>
          </a:xfrm>
          <a:prstGeom prst="ellipse">
            <a:avLst/>
          </a:prstGeom>
          <a:solidFill>
            <a:srgbClr val="1BBF9C"/>
          </a:solidFill>
          <a:ln w="12700">
            <a:solidFill>
              <a:srgbClr val="1BBF9C"/>
            </a:solidFill>
            <a:prstDash val="solid"/>
          </a:ln>
        </p:spPr>
      </p:sp>
      <p:pic>
        <p:nvPicPr>
          <p:cNvPr id="31" name="Image 2" descr="preencoded.png">    </p:cNvPr>
          <p:cNvPicPr>
            <a:picLocks noChangeAspect="1"/>
          </p:cNvPicPr>
          <p:nvPr/>
        </p:nvPicPr>
        <p:blipFill>
          <a:blip r:embed="rId3"/>
          <a:stretch>
            <a:fillRect/>
          </a:stretch>
        </p:blipFill>
        <p:spPr>
          <a:xfrm>
            <a:off x="4869180" y="3003804"/>
            <a:ext cx="228600" cy="228600"/>
          </a:xfrm>
          <a:prstGeom prst="rect">
            <a:avLst/>
          </a:prstGeom>
        </p:spPr>
      </p:pic>
      <p:sp>
        <p:nvSpPr>
          <p:cNvPr id="32" name="Text 27"/>
          <p:cNvSpPr txBox="1"/>
          <p:nvPr/>
        </p:nvSpPr>
        <p:spPr>
          <a:xfrm>
            <a:off x="5349240" y="2862072"/>
            <a:ext cx="3337560" cy="274320"/>
          </a:xfrm>
          <a:prstGeom prst="rect">
            <a:avLst/>
          </a:prstGeom>
          <a:noFill/>
          <a:ln/>
        </p:spPr>
        <p:txBody>
          <a:bodyPr wrap="square" lIns="0" tIns="0" rIns="0" bIns="0" rtlCol="0" anchor="ctr"/>
          <a:lstStyle/>
          <a:p>
            <a:pPr indent="0" marL="0">
              <a:buNone/>
            </a:pPr>
            <a:r>
              <a:rPr lang="en-US" sz="1300" b="1" dirty="0">
                <a:solidFill>
                  <a:srgbClr val="1B2B36"/>
                </a:solidFill>
                <a:latin typeface="Calibri" pitchFamily="34" charset="0"/>
                <a:ea typeface="Calibri" pitchFamily="34" charset="-122"/>
                <a:cs typeface="Calibri" pitchFamily="34" charset="-120"/>
              </a:rPr>
              <a:t>Health &amp; transparency</a:t>
            </a:r>
            <a:endParaRPr lang="en-US" sz="1300" dirty="0"/>
          </a:p>
        </p:txBody>
      </p:sp>
      <p:sp>
        <p:nvSpPr>
          <p:cNvPr id="33" name="Text 28"/>
          <p:cNvSpPr txBox="1"/>
          <p:nvPr/>
        </p:nvSpPr>
        <p:spPr>
          <a:xfrm>
            <a:off x="5349240" y="3145536"/>
            <a:ext cx="3337560" cy="502920"/>
          </a:xfrm>
          <a:prstGeom prst="rect">
            <a:avLst/>
          </a:prstGeom>
          <a:noFill/>
          <a:ln/>
        </p:spPr>
        <p:txBody>
          <a:bodyPr wrap="square" lIns="0" tIns="0" rIns="0" bIns="0" rtlCol="0" anchor="t"/>
          <a:lstStyle/>
          <a:p>
            <a:pPr indent="0" marL="0">
              <a:buNone/>
            </a:pPr>
            <a:r>
              <a:rPr lang="en-US" sz="1100" dirty="0">
                <a:solidFill>
                  <a:srgbClr val="5B6B75"/>
                </a:solidFill>
                <a:latin typeface="Calibri" pitchFamily="34" charset="0"/>
                <a:ea typeface="Calibri" pitchFamily="34" charset="-122"/>
                <a:cs typeface="Calibri" pitchFamily="34" charset="-120"/>
              </a:rPr>
              <a:t>/health, /skills, /tools show what's running and what the agent can do.</a:t>
            </a:r>
            <a:endParaRPr lang="en-US" sz="1100" dirty="0"/>
          </a:p>
        </p:txBody>
      </p:sp>
      <p:sp>
        <p:nvSpPr>
          <p:cNvPr id="34" name="Shape 29"/>
          <p:cNvSpPr/>
          <p:nvPr/>
        </p:nvSpPr>
        <p:spPr>
          <a:xfrm>
            <a:off x="4754880" y="3739896"/>
            <a:ext cx="457200" cy="457200"/>
          </a:xfrm>
          <a:prstGeom prst="ellipse">
            <a:avLst/>
          </a:prstGeom>
          <a:solidFill>
            <a:srgbClr val="1BBF9C"/>
          </a:solidFill>
          <a:ln w="12700">
            <a:solidFill>
              <a:srgbClr val="1BBF9C"/>
            </a:solidFill>
            <a:prstDash val="solid"/>
          </a:ln>
        </p:spPr>
      </p:sp>
      <p:pic>
        <p:nvPicPr>
          <p:cNvPr id="35" name="Image 3" descr="preencoded.png">    </p:cNvPr>
          <p:cNvPicPr>
            <a:picLocks noChangeAspect="1"/>
          </p:cNvPicPr>
          <p:nvPr/>
        </p:nvPicPr>
        <p:blipFill>
          <a:blip r:embed="rId4"/>
          <a:stretch>
            <a:fillRect/>
          </a:stretch>
        </p:blipFill>
        <p:spPr>
          <a:xfrm>
            <a:off x="4869180" y="3854196"/>
            <a:ext cx="228600" cy="228600"/>
          </a:xfrm>
          <a:prstGeom prst="rect">
            <a:avLst/>
          </a:prstGeom>
        </p:spPr>
      </p:pic>
      <p:sp>
        <p:nvSpPr>
          <p:cNvPr id="36" name="Text 30"/>
          <p:cNvSpPr txBox="1"/>
          <p:nvPr/>
        </p:nvSpPr>
        <p:spPr>
          <a:xfrm>
            <a:off x="5349240" y="3712464"/>
            <a:ext cx="3337560" cy="274320"/>
          </a:xfrm>
          <a:prstGeom prst="rect">
            <a:avLst/>
          </a:prstGeom>
          <a:noFill/>
          <a:ln/>
        </p:spPr>
        <p:txBody>
          <a:bodyPr wrap="square" lIns="0" tIns="0" rIns="0" bIns="0" rtlCol="0" anchor="ctr"/>
          <a:lstStyle/>
          <a:p>
            <a:pPr indent="0" marL="0">
              <a:buNone/>
            </a:pPr>
            <a:r>
              <a:rPr lang="en-US" sz="1300" b="1" dirty="0">
                <a:solidFill>
                  <a:srgbClr val="1B2B36"/>
                </a:solidFill>
                <a:latin typeface="Calibri" pitchFamily="34" charset="0"/>
                <a:ea typeface="Calibri" pitchFamily="34" charset="-122"/>
                <a:cs typeface="Calibri" pitchFamily="34" charset="-120"/>
              </a:rPr>
              <a:t>More model choices</a:t>
            </a:r>
            <a:endParaRPr lang="en-US" sz="1300" dirty="0"/>
          </a:p>
        </p:txBody>
      </p:sp>
      <p:sp>
        <p:nvSpPr>
          <p:cNvPr id="37" name="Text 31"/>
          <p:cNvSpPr txBox="1"/>
          <p:nvPr/>
        </p:nvSpPr>
        <p:spPr>
          <a:xfrm>
            <a:off x="5349240" y="3995928"/>
            <a:ext cx="3337560" cy="502920"/>
          </a:xfrm>
          <a:prstGeom prst="rect">
            <a:avLst/>
          </a:prstGeom>
          <a:noFill/>
          <a:ln/>
        </p:spPr>
        <p:txBody>
          <a:bodyPr wrap="square" lIns="0" tIns="0" rIns="0" bIns="0" rtlCol="0" anchor="t"/>
          <a:lstStyle/>
          <a:p>
            <a:pPr indent="0" marL="0">
              <a:buNone/>
            </a:pPr>
            <a:r>
              <a:rPr lang="en-US" sz="1100" dirty="0">
                <a:solidFill>
                  <a:srgbClr val="5B6B75"/>
                </a:solidFill>
                <a:latin typeface="Calibri" pitchFamily="34" charset="0"/>
                <a:ea typeface="Calibri" pitchFamily="34" charset="-122"/>
                <a:cs typeface="Calibri" pitchFamily="34" charset="-120"/>
              </a:rPr>
              <a:t>Added Groq and Ollama Cloud, with automatic retry on API errors.</a:t>
            </a:r>
            <a:endParaRPr lang="en-US" sz="1100" dirty="0"/>
          </a:p>
        </p:txBody>
      </p:sp>
      <p:sp>
        <p:nvSpPr>
          <p:cNvPr id="38" name="Text 32"/>
          <p:cNvSpPr txBox="1"/>
          <p:nvPr/>
        </p:nvSpPr>
        <p:spPr>
          <a:xfrm>
            <a:off x="8321040" y="4800600"/>
            <a:ext cx="457200" cy="228600"/>
          </a:xfrm>
          <a:prstGeom prst="rect">
            <a:avLst/>
          </a:prstGeom>
          <a:noFill/>
          <a:ln/>
        </p:spPr>
        <p:txBody>
          <a:bodyPr wrap="square" lIns="0" tIns="0" rIns="0" bIns="0" rtlCol="0" anchor="ctr"/>
          <a:lstStyle/>
          <a:p>
            <a:pPr algn="r" indent="0" marL="0">
              <a:buNone/>
            </a:pPr>
            <a:r>
              <a:rPr lang="en-US" sz="900" dirty="0">
                <a:solidFill>
                  <a:srgbClr val="5B6B75"/>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000" b="1" spc="100" kern="0" dirty="0">
                <a:solidFill>
                  <a:srgbClr val="137C86"/>
                </a:solidFill>
                <a:latin typeface="Calibri" pitchFamily="34" charset="0"/>
                <a:ea typeface="Calibri" pitchFamily="34" charset="-122"/>
                <a:cs typeface="Calibri" pitchFamily="34" charset="-120"/>
              </a:rPr>
              <a:t>ADDITION 4 · EVALUATION</a:t>
            </a:r>
            <a:endParaRPr lang="en-US" sz="1000" dirty="0"/>
          </a:p>
        </p:txBody>
      </p:sp>
      <p:sp>
        <p:nvSpPr>
          <p:cNvPr id="3" name="Text 1"/>
          <p:cNvSpPr txBox="1"/>
          <p:nvPr/>
        </p:nvSpPr>
        <p:spPr>
          <a:xfrm>
            <a:off x="457200" y="530352"/>
            <a:ext cx="8229600" cy="457200"/>
          </a:xfrm>
          <a:prstGeom prst="rect">
            <a:avLst/>
          </a:prstGeom>
          <a:noFill/>
          <a:ln/>
        </p:spPr>
        <p:txBody>
          <a:bodyPr wrap="square" lIns="0" tIns="0" rIns="0" bIns="0" rtlCol="0" anchor="ctr"/>
          <a:lstStyle/>
          <a:p>
            <a:pPr indent="0" marL="0">
              <a:buNone/>
            </a:pPr>
            <a:r>
              <a:rPr lang="en-US" sz="2600" b="1" dirty="0">
                <a:solidFill>
                  <a:srgbClr val="1B2B36"/>
                </a:solidFill>
                <a:latin typeface="Cambria" pitchFamily="34" charset="0"/>
                <a:ea typeface="Cambria" pitchFamily="34" charset="-122"/>
                <a:cs typeface="Cambria" pitchFamily="34" charset="-120"/>
              </a:rPr>
              <a:t>If you can't measure it, you can't trust it</a:t>
            </a:r>
            <a:endParaRPr lang="en-US" sz="2600" dirty="0"/>
          </a:p>
        </p:txBody>
      </p:sp>
      <p:sp>
        <p:nvSpPr>
          <p:cNvPr id="4" name="Shape 2"/>
          <p:cNvSpPr/>
          <p:nvPr/>
        </p:nvSpPr>
        <p:spPr>
          <a:xfrm>
            <a:off x="457200" y="1188720"/>
            <a:ext cx="2615184" cy="2148840"/>
          </a:xfrm>
          <a:prstGeom prst="roundRect">
            <a:avLst>
              <a:gd name="adj" fmla="val 3404"/>
            </a:avLst>
          </a:prstGeom>
          <a:solidFill>
            <a:srgbClr val="EEF4F6"/>
          </a:solidFill>
          <a:ln w="12700">
            <a:solidFill>
              <a:srgbClr val="EEF4F6"/>
            </a:solidFill>
            <a:prstDash val="solid"/>
          </a:ln>
        </p:spPr>
      </p:sp>
      <p:sp>
        <p:nvSpPr>
          <p:cNvPr id="5" name="Text 3"/>
          <p:cNvSpPr txBox="1"/>
          <p:nvPr/>
        </p:nvSpPr>
        <p:spPr>
          <a:xfrm>
            <a:off x="685800" y="1280160"/>
            <a:ext cx="2157984" cy="777240"/>
          </a:xfrm>
          <a:prstGeom prst="rect">
            <a:avLst/>
          </a:prstGeom>
          <a:noFill/>
          <a:ln/>
        </p:spPr>
        <p:txBody>
          <a:bodyPr wrap="square" lIns="0" tIns="0" rIns="0" bIns="0" rtlCol="0" anchor="ctr"/>
          <a:lstStyle/>
          <a:p>
            <a:pPr indent="0" marL="0">
              <a:buNone/>
            </a:pPr>
            <a:r>
              <a:rPr lang="en-US" sz="4400" b="1" dirty="0">
                <a:solidFill>
                  <a:srgbClr val="137C86"/>
                </a:solidFill>
                <a:latin typeface="Cambria" pitchFamily="34" charset="0"/>
                <a:ea typeface="Cambria" pitchFamily="34" charset="-122"/>
                <a:cs typeface="Cambria" pitchFamily="34" charset="-120"/>
              </a:rPr>
              <a:t>32</a:t>
            </a:r>
            <a:endParaRPr lang="en-US" sz="4400" dirty="0"/>
          </a:p>
        </p:txBody>
      </p:sp>
      <p:sp>
        <p:nvSpPr>
          <p:cNvPr id="6" name="Text 4"/>
          <p:cNvSpPr txBox="1"/>
          <p:nvPr/>
        </p:nvSpPr>
        <p:spPr>
          <a:xfrm>
            <a:off x="685800" y="2029968"/>
            <a:ext cx="2157984" cy="274320"/>
          </a:xfrm>
          <a:prstGeom prst="rect">
            <a:avLst/>
          </a:prstGeom>
          <a:noFill/>
          <a:ln/>
        </p:spPr>
        <p:txBody>
          <a:bodyPr wrap="square" lIns="0" tIns="0" rIns="0" bIns="0" rtlCol="0" anchor="ctr"/>
          <a:lstStyle/>
          <a:p>
            <a:pPr indent="0" marL="0">
              <a:buNone/>
            </a:pPr>
            <a:r>
              <a:rPr lang="en-US" sz="1300" b="1" dirty="0">
                <a:solidFill>
                  <a:srgbClr val="1B2B36"/>
                </a:solidFill>
                <a:latin typeface="Calibri" pitchFamily="34" charset="0"/>
                <a:ea typeface="Calibri" pitchFamily="34" charset="-122"/>
                <a:cs typeface="Calibri" pitchFamily="34" charset="-120"/>
              </a:rPr>
              <a:t>offline tests</a:t>
            </a:r>
            <a:endParaRPr lang="en-US" sz="1300" dirty="0"/>
          </a:p>
        </p:txBody>
      </p:sp>
      <p:sp>
        <p:nvSpPr>
          <p:cNvPr id="7" name="Text 5"/>
          <p:cNvSpPr txBox="1"/>
          <p:nvPr/>
        </p:nvSpPr>
        <p:spPr>
          <a:xfrm>
            <a:off x="685800" y="2331720"/>
            <a:ext cx="2157984" cy="914400"/>
          </a:xfrm>
          <a:prstGeom prst="rect">
            <a:avLst/>
          </a:prstGeom>
          <a:noFill/>
          <a:ln/>
        </p:spPr>
        <p:txBody>
          <a:bodyPr wrap="square" lIns="0" tIns="0" rIns="0" bIns="0" rtlCol="0" anchor="t"/>
          <a:lstStyle/>
          <a:p>
            <a:pPr indent="0" marL="0">
              <a:buNone/>
            </a:pPr>
            <a:r>
              <a:rPr lang="en-US" sz="1100" dirty="0">
                <a:solidFill>
                  <a:srgbClr val="5B6B75"/>
                </a:solidFill>
                <a:latin typeface="Calibri" pitchFamily="34" charset="0"/>
                <a:ea typeface="Calibri" pitchFamily="34" charset="-122"/>
                <a:cs typeface="Calibri" pitchFamily="34" charset="-120"/>
              </a:rPr>
              <a:t>Run in seconds with a fake AI — no keys, no cost. Catch breakage on every change.</a:t>
            </a:r>
            <a:endParaRPr lang="en-US" sz="1100" dirty="0"/>
          </a:p>
        </p:txBody>
      </p:sp>
      <p:sp>
        <p:nvSpPr>
          <p:cNvPr id="8" name="Shape 6"/>
          <p:cNvSpPr/>
          <p:nvPr/>
        </p:nvSpPr>
        <p:spPr>
          <a:xfrm>
            <a:off x="3264408" y="1188720"/>
            <a:ext cx="2615184" cy="2148840"/>
          </a:xfrm>
          <a:prstGeom prst="roundRect">
            <a:avLst>
              <a:gd name="adj" fmla="val 3404"/>
            </a:avLst>
          </a:prstGeom>
          <a:solidFill>
            <a:srgbClr val="EEF4F6"/>
          </a:solidFill>
          <a:ln w="12700">
            <a:solidFill>
              <a:srgbClr val="EEF4F6"/>
            </a:solidFill>
            <a:prstDash val="solid"/>
          </a:ln>
        </p:spPr>
      </p:sp>
      <p:sp>
        <p:nvSpPr>
          <p:cNvPr id="9" name="Text 7"/>
          <p:cNvSpPr txBox="1"/>
          <p:nvPr/>
        </p:nvSpPr>
        <p:spPr>
          <a:xfrm>
            <a:off x="3493008" y="1280160"/>
            <a:ext cx="2157984" cy="777240"/>
          </a:xfrm>
          <a:prstGeom prst="rect">
            <a:avLst/>
          </a:prstGeom>
          <a:noFill/>
          <a:ln/>
        </p:spPr>
        <p:txBody>
          <a:bodyPr wrap="square" lIns="0" tIns="0" rIns="0" bIns="0" rtlCol="0" anchor="ctr"/>
          <a:lstStyle/>
          <a:p>
            <a:pPr indent="0" marL="0">
              <a:buNone/>
            </a:pPr>
            <a:r>
              <a:rPr lang="en-US" sz="4400" b="1" dirty="0">
                <a:solidFill>
                  <a:srgbClr val="137C86"/>
                </a:solidFill>
                <a:latin typeface="Cambria" pitchFamily="34" charset="0"/>
                <a:ea typeface="Cambria" pitchFamily="34" charset="-122"/>
                <a:cs typeface="Cambria" pitchFamily="34" charset="-120"/>
              </a:rPr>
              <a:t>11/11</a:t>
            </a:r>
            <a:endParaRPr lang="en-US" sz="4400" dirty="0"/>
          </a:p>
        </p:txBody>
      </p:sp>
      <p:sp>
        <p:nvSpPr>
          <p:cNvPr id="10" name="Text 8"/>
          <p:cNvSpPr txBox="1"/>
          <p:nvPr/>
        </p:nvSpPr>
        <p:spPr>
          <a:xfrm>
            <a:off x="3493008" y="2029968"/>
            <a:ext cx="2157984" cy="274320"/>
          </a:xfrm>
          <a:prstGeom prst="rect">
            <a:avLst/>
          </a:prstGeom>
          <a:noFill/>
          <a:ln/>
        </p:spPr>
        <p:txBody>
          <a:bodyPr wrap="square" lIns="0" tIns="0" rIns="0" bIns="0" rtlCol="0" anchor="ctr"/>
          <a:lstStyle/>
          <a:p>
            <a:pPr indent="0" marL="0">
              <a:buNone/>
            </a:pPr>
            <a:r>
              <a:rPr lang="en-US" sz="1300" b="1" dirty="0">
                <a:solidFill>
                  <a:srgbClr val="1B2B36"/>
                </a:solidFill>
                <a:latin typeface="Calibri" pitchFamily="34" charset="0"/>
                <a:ea typeface="Calibri" pitchFamily="34" charset="-122"/>
                <a:cs typeface="Calibri" pitchFamily="34" charset="-120"/>
              </a:rPr>
              <a:t>live eval cases pass</a:t>
            </a:r>
            <a:endParaRPr lang="en-US" sz="1300" dirty="0"/>
          </a:p>
        </p:txBody>
      </p:sp>
      <p:sp>
        <p:nvSpPr>
          <p:cNvPr id="11" name="Text 9"/>
          <p:cNvSpPr txBox="1"/>
          <p:nvPr/>
        </p:nvSpPr>
        <p:spPr>
          <a:xfrm>
            <a:off x="3493008" y="2331720"/>
            <a:ext cx="2157984" cy="914400"/>
          </a:xfrm>
          <a:prstGeom prst="rect">
            <a:avLst/>
          </a:prstGeom>
          <a:noFill/>
          <a:ln/>
        </p:spPr>
        <p:txBody>
          <a:bodyPr wrap="square" lIns="0" tIns="0" rIns="0" bIns="0" rtlCol="0" anchor="t"/>
          <a:lstStyle/>
          <a:p>
            <a:pPr indent="0" marL="0">
              <a:buNone/>
            </a:pPr>
            <a:r>
              <a:rPr lang="en-US" sz="1100" dirty="0">
                <a:solidFill>
                  <a:srgbClr val="5B6B75"/>
                </a:solidFill>
                <a:latin typeface="Calibri" pitchFamily="34" charset="0"/>
                <a:ea typeface="Calibri" pitchFamily="34" charset="-122"/>
                <a:cs typeface="Calibri" pitchFamily="34" charset="-120"/>
              </a:rPr>
              <a:t>Real model + real database. Scored by code: right specialty, area, language, 123 for emergencies.</a:t>
            </a:r>
            <a:endParaRPr lang="en-US" sz="1100" dirty="0"/>
          </a:p>
        </p:txBody>
      </p:sp>
      <p:sp>
        <p:nvSpPr>
          <p:cNvPr id="12" name="Shape 10"/>
          <p:cNvSpPr/>
          <p:nvPr/>
        </p:nvSpPr>
        <p:spPr>
          <a:xfrm>
            <a:off x="6071616" y="1188720"/>
            <a:ext cx="2615184" cy="2148840"/>
          </a:xfrm>
          <a:prstGeom prst="roundRect">
            <a:avLst>
              <a:gd name="adj" fmla="val 3404"/>
            </a:avLst>
          </a:prstGeom>
          <a:solidFill>
            <a:srgbClr val="EEF4F6"/>
          </a:solidFill>
          <a:ln w="12700">
            <a:solidFill>
              <a:srgbClr val="EEF4F6"/>
            </a:solidFill>
            <a:prstDash val="solid"/>
          </a:ln>
        </p:spPr>
      </p:sp>
      <p:sp>
        <p:nvSpPr>
          <p:cNvPr id="13" name="Text 11"/>
          <p:cNvSpPr txBox="1"/>
          <p:nvPr/>
        </p:nvSpPr>
        <p:spPr>
          <a:xfrm>
            <a:off x="6300216" y="1280160"/>
            <a:ext cx="2157984" cy="777240"/>
          </a:xfrm>
          <a:prstGeom prst="rect">
            <a:avLst/>
          </a:prstGeom>
          <a:noFill/>
          <a:ln/>
        </p:spPr>
        <p:txBody>
          <a:bodyPr wrap="square" lIns="0" tIns="0" rIns="0" bIns="0" rtlCol="0" anchor="ctr"/>
          <a:lstStyle/>
          <a:p>
            <a:pPr indent="0" marL="0">
              <a:buNone/>
            </a:pPr>
            <a:r>
              <a:rPr lang="en-US" sz="4400" b="1" dirty="0">
                <a:solidFill>
                  <a:srgbClr val="137C86"/>
                </a:solidFill>
                <a:latin typeface="Cambria" pitchFamily="34" charset="0"/>
                <a:ea typeface="Cambria" pitchFamily="34" charset="-122"/>
                <a:cs typeface="Cambria" pitchFamily="34" charset="-120"/>
              </a:rPr>
              <a:t>7</a:t>
            </a:r>
            <a:endParaRPr lang="en-US" sz="4400" dirty="0"/>
          </a:p>
        </p:txBody>
      </p:sp>
      <p:sp>
        <p:nvSpPr>
          <p:cNvPr id="14" name="Text 12"/>
          <p:cNvSpPr txBox="1"/>
          <p:nvPr/>
        </p:nvSpPr>
        <p:spPr>
          <a:xfrm>
            <a:off x="6300216" y="2029968"/>
            <a:ext cx="2157984" cy="274320"/>
          </a:xfrm>
          <a:prstGeom prst="rect">
            <a:avLst/>
          </a:prstGeom>
          <a:noFill/>
          <a:ln/>
        </p:spPr>
        <p:txBody>
          <a:bodyPr wrap="square" lIns="0" tIns="0" rIns="0" bIns="0" rtlCol="0" anchor="ctr"/>
          <a:lstStyle/>
          <a:p>
            <a:pPr indent="0" marL="0">
              <a:buNone/>
            </a:pPr>
            <a:r>
              <a:rPr lang="en-US" sz="1300" b="1" dirty="0">
                <a:solidFill>
                  <a:srgbClr val="1B2B36"/>
                </a:solidFill>
                <a:latin typeface="Calibri" pitchFamily="34" charset="0"/>
                <a:ea typeface="Calibri" pitchFamily="34" charset="-122"/>
                <a:cs typeface="Calibri" pitchFamily="34" charset="-120"/>
              </a:rPr>
              <a:t>skills benchmarked</a:t>
            </a:r>
            <a:endParaRPr lang="en-US" sz="1300" dirty="0"/>
          </a:p>
        </p:txBody>
      </p:sp>
      <p:sp>
        <p:nvSpPr>
          <p:cNvPr id="15" name="Text 13"/>
          <p:cNvSpPr txBox="1"/>
          <p:nvPr/>
        </p:nvSpPr>
        <p:spPr>
          <a:xfrm>
            <a:off x="6300216" y="2331720"/>
            <a:ext cx="2157984" cy="914400"/>
          </a:xfrm>
          <a:prstGeom prst="rect">
            <a:avLst/>
          </a:prstGeom>
          <a:noFill/>
          <a:ln/>
        </p:spPr>
        <p:txBody>
          <a:bodyPr wrap="square" lIns="0" tIns="0" rIns="0" bIns="0" rtlCol="0" anchor="t"/>
          <a:lstStyle/>
          <a:p>
            <a:pPr indent="0" marL="0">
              <a:buNone/>
            </a:pPr>
            <a:r>
              <a:rPr lang="en-US" sz="1100" dirty="0">
                <a:solidFill>
                  <a:srgbClr val="5B6B75"/>
                </a:solidFill>
                <a:latin typeface="Calibri" pitchFamily="34" charset="0"/>
                <a:ea typeface="Calibri" pitchFamily="34" charset="-122"/>
                <a:cs typeface="Calibri" pitchFamily="34" charset="-120"/>
              </a:rPr>
              <a:t>A trigger bench checks the right skill fires for the right question.</a:t>
            </a:r>
            <a:endParaRPr lang="en-US" sz="1100" dirty="0"/>
          </a:p>
        </p:txBody>
      </p:sp>
      <p:sp>
        <p:nvSpPr>
          <p:cNvPr id="16" name="Text 14"/>
          <p:cNvSpPr txBox="1"/>
          <p:nvPr/>
        </p:nvSpPr>
        <p:spPr>
          <a:xfrm>
            <a:off x="457200" y="3520440"/>
            <a:ext cx="8229600" cy="274320"/>
          </a:xfrm>
          <a:prstGeom prst="rect">
            <a:avLst/>
          </a:prstGeom>
          <a:noFill/>
          <a:ln/>
        </p:spPr>
        <p:txBody>
          <a:bodyPr wrap="square" lIns="0" tIns="0" rIns="0" bIns="0" rtlCol="0" anchor="ctr"/>
          <a:lstStyle/>
          <a:p>
            <a:pPr indent="0" marL="0">
              <a:buNone/>
            </a:pPr>
            <a:r>
              <a:rPr lang="en-US" sz="1200" b="1" dirty="0">
                <a:solidFill>
                  <a:srgbClr val="1B2B36"/>
                </a:solidFill>
                <a:latin typeface="Calibri" pitchFamily="34" charset="0"/>
                <a:ea typeface="Calibri" pitchFamily="34" charset="-122"/>
                <a:cs typeface="Calibri" pitchFamily="34" charset="-120"/>
              </a:rPr>
              <a:t>What the live evals cover</a:t>
            </a:r>
            <a:endParaRPr lang="en-US" sz="1200" dirty="0"/>
          </a:p>
        </p:txBody>
      </p:sp>
      <p:sp>
        <p:nvSpPr>
          <p:cNvPr id="17" name="Shape 15"/>
          <p:cNvSpPr/>
          <p:nvPr/>
        </p:nvSpPr>
        <p:spPr>
          <a:xfrm>
            <a:off x="457200" y="3858768"/>
            <a:ext cx="1406347" cy="292608"/>
          </a:xfrm>
          <a:prstGeom prst="roundRect">
            <a:avLst>
              <a:gd name="adj" fmla="val 46875"/>
            </a:avLst>
          </a:prstGeom>
          <a:solidFill>
            <a:srgbClr val="E2F4F0"/>
          </a:solidFill>
          <a:ln w="12700">
            <a:solidFill>
              <a:srgbClr val="E2F4F0"/>
            </a:solidFill>
            <a:prstDash val="solid"/>
          </a:ln>
        </p:spPr>
      </p:sp>
      <p:sp>
        <p:nvSpPr>
          <p:cNvPr id="18" name="Text 16"/>
          <p:cNvSpPr txBox="1"/>
          <p:nvPr/>
        </p:nvSpPr>
        <p:spPr>
          <a:xfrm>
            <a:off x="457200" y="3858768"/>
            <a:ext cx="1406347" cy="292608"/>
          </a:xfrm>
          <a:prstGeom prst="rect">
            <a:avLst/>
          </a:prstGeom>
          <a:noFill/>
          <a:ln/>
        </p:spPr>
        <p:txBody>
          <a:bodyPr wrap="square" lIns="0" tIns="0" rIns="0" bIns="0" rtlCol="0" anchor="ctr"/>
          <a:lstStyle/>
          <a:p>
            <a:pPr algn="ctr" indent="0" marL="0">
              <a:buNone/>
            </a:pPr>
            <a:r>
              <a:rPr lang="en-US" sz="1000" b="1" dirty="0">
                <a:solidFill>
                  <a:srgbClr val="137C86"/>
                </a:solidFill>
                <a:latin typeface="Calibri" pitchFamily="34" charset="0"/>
                <a:ea typeface="Calibri" pitchFamily="34" charset="-122"/>
                <a:cs typeface="Calibri" pitchFamily="34" charset="-120"/>
              </a:rPr>
              <a:t>Toothache in Arabic</a:t>
            </a:r>
            <a:endParaRPr lang="en-US" sz="1000" dirty="0"/>
          </a:p>
        </p:txBody>
      </p:sp>
      <p:sp>
        <p:nvSpPr>
          <p:cNvPr id="19" name="Shape 17"/>
          <p:cNvSpPr/>
          <p:nvPr/>
        </p:nvSpPr>
        <p:spPr>
          <a:xfrm>
            <a:off x="1954987" y="3858768"/>
            <a:ext cx="1472184" cy="292608"/>
          </a:xfrm>
          <a:prstGeom prst="roundRect">
            <a:avLst>
              <a:gd name="adj" fmla="val 46875"/>
            </a:avLst>
          </a:prstGeom>
          <a:solidFill>
            <a:srgbClr val="E2F4F0"/>
          </a:solidFill>
          <a:ln w="12700">
            <a:solidFill>
              <a:srgbClr val="E2F4F0"/>
            </a:solidFill>
            <a:prstDash val="solid"/>
          </a:ln>
        </p:spPr>
      </p:sp>
      <p:sp>
        <p:nvSpPr>
          <p:cNvPr id="20" name="Text 18"/>
          <p:cNvSpPr txBox="1"/>
          <p:nvPr/>
        </p:nvSpPr>
        <p:spPr>
          <a:xfrm>
            <a:off x="1954987" y="3858768"/>
            <a:ext cx="1472184" cy="292608"/>
          </a:xfrm>
          <a:prstGeom prst="rect">
            <a:avLst/>
          </a:prstGeom>
          <a:noFill/>
          <a:ln/>
        </p:spPr>
        <p:txBody>
          <a:bodyPr wrap="square" lIns="0" tIns="0" rIns="0" bIns="0" rtlCol="0" anchor="ctr"/>
          <a:lstStyle/>
          <a:p>
            <a:pPr algn="ctr" indent="0" marL="0">
              <a:buNone/>
            </a:pPr>
            <a:r>
              <a:rPr lang="en-US" sz="1000" b="1" dirty="0">
                <a:solidFill>
                  <a:srgbClr val="137C86"/>
                </a:solidFill>
                <a:latin typeface="Calibri" pitchFamily="34" charset="0"/>
                <a:ea typeface="Calibri" pitchFamily="34" charset="-122"/>
                <a:cs typeface="Calibri" pitchFamily="34" charset="-120"/>
              </a:rPr>
              <a:t>Knee injury + budget</a:t>
            </a:r>
            <a:endParaRPr lang="en-US" sz="1000" dirty="0"/>
          </a:p>
        </p:txBody>
      </p:sp>
      <p:sp>
        <p:nvSpPr>
          <p:cNvPr id="21" name="Shape 19"/>
          <p:cNvSpPr/>
          <p:nvPr/>
        </p:nvSpPr>
        <p:spPr>
          <a:xfrm>
            <a:off x="3518611" y="3858768"/>
            <a:ext cx="1340510" cy="292608"/>
          </a:xfrm>
          <a:prstGeom prst="roundRect">
            <a:avLst>
              <a:gd name="adj" fmla="val 46875"/>
            </a:avLst>
          </a:prstGeom>
          <a:solidFill>
            <a:srgbClr val="FBEDEB"/>
          </a:solidFill>
          <a:ln w="12700">
            <a:solidFill>
              <a:srgbClr val="FBEDEB"/>
            </a:solidFill>
            <a:prstDash val="solid"/>
          </a:ln>
        </p:spPr>
      </p:sp>
      <p:sp>
        <p:nvSpPr>
          <p:cNvPr id="22" name="Text 20"/>
          <p:cNvSpPr txBox="1"/>
          <p:nvPr/>
        </p:nvSpPr>
        <p:spPr>
          <a:xfrm>
            <a:off x="3518611" y="3858768"/>
            <a:ext cx="1340510" cy="292608"/>
          </a:xfrm>
          <a:prstGeom prst="rect">
            <a:avLst/>
          </a:prstGeom>
          <a:noFill/>
          <a:ln/>
        </p:spPr>
        <p:txBody>
          <a:bodyPr wrap="square" lIns="0" tIns="0" rIns="0" bIns="0" rtlCol="0" anchor="ctr"/>
          <a:lstStyle/>
          <a:p>
            <a:pPr algn="ctr" indent="0" marL="0">
              <a:buNone/>
            </a:pPr>
            <a:r>
              <a:rPr lang="en-US" sz="1000" b="1" dirty="0">
                <a:solidFill>
                  <a:srgbClr val="C2413B"/>
                </a:solidFill>
                <a:latin typeface="Calibri" pitchFamily="34" charset="0"/>
                <a:ea typeface="Calibri" pitchFamily="34" charset="-122"/>
                <a:cs typeface="Calibri" pitchFamily="34" charset="-120"/>
              </a:rPr>
              <a:t>Heart attack signs</a:t>
            </a:r>
            <a:endParaRPr lang="en-US" sz="1000" dirty="0"/>
          </a:p>
        </p:txBody>
      </p:sp>
      <p:sp>
        <p:nvSpPr>
          <p:cNvPr id="23" name="Shape 21"/>
          <p:cNvSpPr/>
          <p:nvPr/>
        </p:nvSpPr>
        <p:spPr>
          <a:xfrm>
            <a:off x="4950562" y="3858768"/>
            <a:ext cx="1208837" cy="292608"/>
          </a:xfrm>
          <a:prstGeom prst="roundRect">
            <a:avLst>
              <a:gd name="adj" fmla="val 46875"/>
            </a:avLst>
          </a:prstGeom>
          <a:solidFill>
            <a:srgbClr val="FBEDEB"/>
          </a:solidFill>
          <a:ln w="12700">
            <a:solidFill>
              <a:srgbClr val="FBEDEB"/>
            </a:solidFill>
            <a:prstDash val="solid"/>
          </a:ln>
        </p:spPr>
      </p:sp>
      <p:sp>
        <p:nvSpPr>
          <p:cNvPr id="24" name="Text 22"/>
          <p:cNvSpPr txBox="1"/>
          <p:nvPr/>
        </p:nvSpPr>
        <p:spPr>
          <a:xfrm>
            <a:off x="4950562" y="3858768"/>
            <a:ext cx="1208837" cy="292608"/>
          </a:xfrm>
          <a:prstGeom prst="rect">
            <a:avLst/>
          </a:prstGeom>
          <a:noFill/>
          <a:ln/>
        </p:spPr>
        <p:txBody>
          <a:bodyPr wrap="square" lIns="0" tIns="0" rIns="0" bIns="0" rtlCol="0" anchor="ctr"/>
          <a:lstStyle/>
          <a:p>
            <a:pPr algn="ctr" indent="0" marL="0">
              <a:buNone/>
            </a:pPr>
            <a:r>
              <a:rPr lang="en-US" sz="1000" b="1" dirty="0">
                <a:solidFill>
                  <a:srgbClr val="C2413B"/>
                </a:solidFill>
                <a:latin typeface="Calibri" pitchFamily="34" charset="0"/>
                <a:ea typeface="Calibri" pitchFamily="34" charset="-122"/>
                <a:cs typeface="Calibri" pitchFamily="34" charset="-120"/>
              </a:rPr>
              <a:t>Stroke in Arabic</a:t>
            </a:r>
            <a:endParaRPr lang="en-US" sz="1000" dirty="0"/>
          </a:p>
        </p:txBody>
      </p:sp>
      <p:sp>
        <p:nvSpPr>
          <p:cNvPr id="25" name="Shape 23"/>
          <p:cNvSpPr/>
          <p:nvPr/>
        </p:nvSpPr>
        <p:spPr>
          <a:xfrm>
            <a:off x="6250838" y="3858768"/>
            <a:ext cx="879653" cy="292608"/>
          </a:xfrm>
          <a:prstGeom prst="roundRect">
            <a:avLst>
              <a:gd name="adj" fmla="val 46875"/>
            </a:avLst>
          </a:prstGeom>
          <a:solidFill>
            <a:srgbClr val="E2F4F0"/>
          </a:solidFill>
          <a:ln w="12700">
            <a:solidFill>
              <a:srgbClr val="E2F4F0"/>
            </a:solidFill>
            <a:prstDash val="solid"/>
          </a:ln>
        </p:spPr>
      </p:sp>
      <p:sp>
        <p:nvSpPr>
          <p:cNvPr id="26" name="Text 24"/>
          <p:cNvSpPr txBox="1"/>
          <p:nvPr/>
        </p:nvSpPr>
        <p:spPr>
          <a:xfrm>
            <a:off x="6250838" y="3858768"/>
            <a:ext cx="879653" cy="292608"/>
          </a:xfrm>
          <a:prstGeom prst="rect">
            <a:avLst/>
          </a:prstGeom>
          <a:noFill/>
          <a:ln/>
        </p:spPr>
        <p:txBody>
          <a:bodyPr wrap="square" lIns="0" tIns="0" rIns="0" bIns="0" rtlCol="0" anchor="ctr"/>
          <a:lstStyle/>
          <a:p>
            <a:pPr algn="ctr" indent="0" marL="0">
              <a:buNone/>
            </a:pPr>
            <a:r>
              <a:rPr lang="en-US" sz="1000" b="1" dirty="0">
                <a:solidFill>
                  <a:srgbClr val="137C86"/>
                </a:solidFill>
                <a:latin typeface="Calibri" pitchFamily="34" charset="0"/>
                <a:ea typeface="Calibri" pitchFamily="34" charset="-122"/>
                <a:cs typeface="Calibri" pitchFamily="34" charset="-120"/>
              </a:rPr>
              <a:t>Child fever</a:t>
            </a:r>
            <a:endParaRPr lang="en-US" sz="1000" dirty="0"/>
          </a:p>
        </p:txBody>
      </p:sp>
      <p:sp>
        <p:nvSpPr>
          <p:cNvPr id="27" name="Shape 25"/>
          <p:cNvSpPr/>
          <p:nvPr/>
        </p:nvSpPr>
        <p:spPr>
          <a:xfrm>
            <a:off x="7221931" y="3858768"/>
            <a:ext cx="747979" cy="292608"/>
          </a:xfrm>
          <a:prstGeom prst="roundRect">
            <a:avLst>
              <a:gd name="adj" fmla="val 46875"/>
            </a:avLst>
          </a:prstGeom>
          <a:solidFill>
            <a:srgbClr val="E2F4F0"/>
          </a:solidFill>
          <a:ln w="12700">
            <a:solidFill>
              <a:srgbClr val="E2F4F0"/>
            </a:solidFill>
            <a:prstDash val="solid"/>
          </a:ln>
        </p:spPr>
      </p:sp>
      <p:sp>
        <p:nvSpPr>
          <p:cNvPr id="28" name="Text 26"/>
          <p:cNvSpPr txBox="1"/>
          <p:nvPr/>
        </p:nvSpPr>
        <p:spPr>
          <a:xfrm>
            <a:off x="7221931" y="3858768"/>
            <a:ext cx="747979" cy="292608"/>
          </a:xfrm>
          <a:prstGeom prst="rect">
            <a:avLst/>
          </a:prstGeom>
          <a:noFill/>
          <a:ln/>
        </p:spPr>
        <p:txBody>
          <a:bodyPr wrap="square" lIns="0" tIns="0" rIns="0" bIns="0" rtlCol="0" anchor="ctr"/>
          <a:lstStyle/>
          <a:p>
            <a:pPr algn="ctr" indent="0" marL="0">
              <a:buNone/>
            </a:pPr>
            <a:r>
              <a:rPr lang="en-US" sz="1000" b="1" dirty="0">
                <a:solidFill>
                  <a:srgbClr val="137C86"/>
                </a:solidFill>
                <a:latin typeface="Calibri" pitchFamily="34" charset="0"/>
                <a:ea typeface="Calibri" pitchFamily="34" charset="-122"/>
                <a:cs typeface="Calibri" pitchFamily="34" charset="-120"/>
              </a:rPr>
              <a:t>Hair loss</a:t>
            </a:r>
            <a:endParaRPr lang="en-US" sz="1000" dirty="0"/>
          </a:p>
        </p:txBody>
      </p:sp>
      <p:sp>
        <p:nvSpPr>
          <p:cNvPr id="29" name="Shape 27"/>
          <p:cNvSpPr/>
          <p:nvPr/>
        </p:nvSpPr>
        <p:spPr>
          <a:xfrm>
            <a:off x="457200" y="4242816"/>
            <a:ext cx="879653" cy="292608"/>
          </a:xfrm>
          <a:prstGeom prst="roundRect">
            <a:avLst>
              <a:gd name="adj" fmla="val 46875"/>
            </a:avLst>
          </a:prstGeom>
          <a:solidFill>
            <a:srgbClr val="E2F4F0"/>
          </a:solidFill>
          <a:ln w="12700">
            <a:solidFill>
              <a:srgbClr val="E2F4F0"/>
            </a:solidFill>
            <a:prstDash val="solid"/>
          </a:ln>
        </p:spPr>
      </p:sp>
      <p:sp>
        <p:nvSpPr>
          <p:cNvPr id="30" name="Text 28"/>
          <p:cNvSpPr txBox="1"/>
          <p:nvPr/>
        </p:nvSpPr>
        <p:spPr>
          <a:xfrm>
            <a:off x="457200" y="4242816"/>
            <a:ext cx="879653" cy="292608"/>
          </a:xfrm>
          <a:prstGeom prst="rect">
            <a:avLst/>
          </a:prstGeom>
          <a:noFill/>
          <a:ln/>
        </p:spPr>
        <p:txBody>
          <a:bodyPr wrap="square" lIns="0" tIns="0" rIns="0" bIns="0" rtlCol="0" anchor="ctr"/>
          <a:lstStyle/>
          <a:p>
            <a:pPr algn="ctr" indent="0" marL="0">
              <a:buNone/>
            </a:pPr>
            <a:r>
              <a:rPr lang="en-US" sz="1000" b="1" dirty="0">
                <a:solidFill>
                  <a:srgbClr val="137C86"/>
                </a:solidFill>
                <a:latin typeface="Calibri" pitchFamily="34" charset="0"/>
                <a:ea typeface="Calibri" pitchFamily="34" charset="-122"/>
                <a:cs typeface="Calibri" pitchFamily="34" charset="-120"/>
              </a:rPr>
              <a:t>Infertility</a:t>
            </a:r>
            <a:endParaRPr lang="en-US" sz="1000" dirty="0"/>
          </a:p>
        </p:txBody>
      </p:sp>
      <p:sp>
        <p:nvSpPr>
          <p:cNvPr id="31" name="Shape 29"/>
          <p:cNvSpPr/>
          <p:nvPr/>
        </p:nvSpPr>
        <p:spPr>
          <a:xfrm>
            <a:off x="1428293" y="4242816"/>
            <a:ext cx="616306" cy="292608"/>
          </a:xfrm>
          <a:prstGeom prst="roundRect">
            <a:avLst>
              <a:gd name="adj" fmla="val 46875"/>
            </a:avLst>
          </a:prstGeom>
          <a:solidFill>
            <a:srgbClr val="E2F4F0"/>
          </a:solidFill>
          <a:ln w="12700">
            <a:solidFill>
              <a:srgbClr val="E2F4F0"/>
            </a:solidFill>
            <a:prstDash val="solid"/>
          </a:ln>
        </p:spPr>
      </p:sp>
      <p:sp>
        <p:nvSpPr>
          <p:cNvPr id="32" name="Text 30"/>
          <p:cNvSpPr txBox="1"/>
          <p:nvPr/>
        </p:nvSpPr>
        <p:spPr>
          <a:xfrm>
            <a:off x="1428293" y="4242816"/>
            <a:ext cx="616306" cy="292608"/>
          </a:xfrm>
          <a:prstGeom prst="rect">
            <a:avLst/>
          </a:prstGeom>
          <a:noFill/>
          <a:ln/>
        </p:spPr>
        <p:txBody>
          <a:bodyPr wrap="square" lIns="0" tIns="0" rIns="0" bIns="0" rtlCol="0" anchor="ctr"/>
          <a:lstStyle/>
          <a:p>
            <a:pPr algn="ctr" indent="0" marL="0">
              <a:buNone/>
            </a:pPr>
            <a:r>
              <a:rPr lang="en-US" sz="1000" b="1" dirty="0">
                <a:solidFill>
                  <a:srgbClr val="137C86"/>
                </a:solidFill>
                <a:latin typeface="Calibri" pitchFamily="34" charset="0"/>
                <a:ea typeface="Calibri" pitchFamily="34" charset="-122"/>
                <a:cs typeface="Calibri" pitchFamily="34" charset="-120"/>
              </a:rPr>
              <a:t>Anxiety</a:t>
            </a:r>
            <a:endParaRPr lang="en-US" sz="1000" dirty="0"/>
          </a:p>
        </p:txBody>
      </p:sp>
      <p:sp>
        <p:nvSpPr>
          <p:cNvPr id="33" name="Shape 31"/>
          <p:cNvSpPr/>
          <p:nvPr/>
        </p:nvSpPr>
        <p:spPr>
          <a:xfrm>
            <a:off x="2136038" y="4242816"/>
            <a:ext cx="813816" cy="292608"/>
          </a:xfrm>
          <a:prstGeom prst="roundRect">
            <a:avLst>
              <a:gd name="adj" fmla="val 46875"/>
            </a:avLst>
          </a:prstGeom>
          <a:solidFill>
            <a:srgbClr val="E2F4F0"/>
          </a:solidFill>
          <a:ln w="12700">
            <a:solidFill>
              <a:srgbClr val="E2F4F0"/>
            </a:solidFill>
            <a:prstDash val="solid"/>
          </a:ln>
        </p:spPr>
      </p:sp>
      <p:sp>
        <p:nvSpPr>
          <p:cNvPr id="34" name="Text 32"/>
          <p:cNvSpPr txBox="1"/>
          <p:nvPr/>
        </p:nvSpPr>
        <p:spPr>
          <a:xfrm>
            <a:off x="2136038" y="4242816"/>
            <a:ext cx="813816" cy="292608"/>
          </a:xfrm>
          <a:prstGeom prst="rect">
            <a:avLst/>
          </a:prstGeom>
          <a:noFill/>
          <a:ln/>
        </p:spPr>
        <p:txBody>
          <a:bodyPr wrap="square" lIns="0" tIns="0" rIns="0" bIns="0" rtlCol="0" anchor="ctr"/>
          <a:lstStyle/>
          <a:p>
            <a:pPr algn="ctr" indent="0" marL="0">
              <a:buNone/>
            </a:pPr>
            <a:r>
              <a:rPr lang="en-US" sz="1000" b="1" dirty="0">
                <a:solidFill>
                  <a:srgbClr val="137C86"/>
                </a:solidFill>
                <a:latin typeface="Calibri" pitchFamily="34" charset="0"/>
                <a:ea typeface="Calibri" pitchFamily="34" charset="-122"/>
                <a:cs typeface="Calibri" pitchFamily="34" charset="-120"/>
              </a:rPr>
              <a:t>Lab result</a:t>
            </a:r>
            <a:endParaRPr lang="en-US" sz="1000" dirty="0"/>
          </a:p>
        </p:txBody>
      </p:sp>
      <p:sp>
        <p:nvSpPr>
          <p:cNvPr id="35" name="Shape 33"/>
          <p:cNvSpPr/>
          <p:nvPr/>
        </p:nvSpPr>
        <p:spPr>
          <a:xfrm>
            <a:off x="3041294" y="4242816"/>
            <a:ext cx="1274674" cy="292608"/>
          </a:xfrm>
          <a:prstGeom prst="roundRect">
            <a:avLst>
              <a:gd name="adj" fmla="val 46875"/>
            </a:avLst>
          </a:prstGeom>
          <a:solidFill>
            <a:srgbClr val="FBEDEB"/>
          </a:solidFill>
          <a:ln w="12700">
            <a:solidFill>
              <a:srgbClr val="FBEDEB"/>
            </a:solidFill>
            <a:prstDash val="solid"/>
          </a:ln>
        </p:spPr>
      </p:sp>
      <p:sp>
        <p:nvSpPr>
          <p:cNvPr id="36" name="Text 34"/>
          <p:cNvSpPr txBox="1"/>
          <p:nvPr/>
        </p:nvSpPr>
        <p:spPr>
          <a:xfrm>
            <a:off x="3041294" y="4242816"/>
            <a:ext cx="1274674" cy="292608"/>
          </a:xfrm>
          <a:prstGeom prst="rect">
            <a:avLst/>
          </a:prstGeom>
          <a:noFill/>
          <a:ln/>
        </p:spPr>
        <p:txBody>
          <a:bodyPr wrap="square" lIns="0" tIns="0" rIns="0" bIns="0" rtlCol="0" anchor="ctr"/>
          <a:lstStyle/>
          <a:p>
            <a:pPr algn="ctr" indent="0" marL="0">
              <a:buNone/>
            </a:pPr>
            <a:r>
              <a:rPr lang="en-US" sz="1000" b="1" dirty="0">
                <a:solidFill>
                  <a:srgbClr val="C2413B"/>
                </a:solidFill>
                <a:latin typeface="Calibri" pitchFamily="34" charset="0"/>
                <a:ea typeface="Calibri" pitchFamily="34" charset="-122"/>
                <a:cs typeface="Calibri" pitchFamily="34" charset="-120"/>
              </a:rPr>
              <a:t>Off-topic request</a:t>
            </a:r>
            <a:endParaRPr lang="en-US" sz="1000" dirty="0"/>
          </a:p>
        </p:txBody>
      </p:sp>
      <p:sp>
        <p:nvSpPr>
          <p:cNvPr id="37" name="Shape 35"/>
          <p:cNvSpPr/>
          <p:nvPr/>
        </p:nvSpPr>
        <p:spPr>
          <a:xfrm>
            <a:off x="4407408" y="4242816"/>
            <a:ext cx="1274674" cy="292608"/>
          </a:xfrm>
          <a:prstGeom prst="roundRect">
            <a:avLst>
              <a:gd name="adj" fmla="val 46875"/>
            </a:avLst>
          </a:prstGeom>
          <a:solidFill>
            <a:srgbClr val="FBEDEB"/>
          </a:solidFill>
          <a:ln w="12700">
            <a:solidFill>
              <a:srgbClr val="FBEDEB"/>
            </a:solidFill>
            <a:prstDash val="solid"/>
          </a:ln>
        </p:spPr>
      </p:sp>
      <p:sp>
        <p:nvSpPr>
          <p:cNvPr id="38" name="Text 36"/>
          <p:cNvSpPr txBox="1"/>
          <p:nvPr/>
        </p:nvSpPr>
        <p:spPr>
          <a:xfrm>
            <a:off x="4407408" y="4242816"/>
            <a:ext cx="1274674" cy="292608"/>
          </a:xfrm>
          <a:prstGeom prst="rect">
            <a:avLst/>
          </a:prstGeom>
          <a:noFill/>
          <a:ln/>
        </p:spPr>
        <p:txBody>
          <a:bodyPr wrap="square" lIns="0" tIns="0" rIns="0" bIns="0" rtlCol="0" anchor="ctr"/>
          <a:lstStyle/>
          <a:p>
            <a:pPr algn="ctr" indent="0" marL="0">
              <a:buNone/>
            </a:pPr>
            <a:r>
              <a:rPr lang="en-US" sz="1000" b="1" dirty="0">
                <a:solidFill>
                  <a:srgbClr val="C2413B"/>
                </a:solidFill>
                <a:latin typeface="Calibri" pitchFamily="34" charset="0"/>
                <a:ea typeface="Calibri" pitchFamily="34" charset="-122"/>
                <a:cs typeface="Calibri" pitchFamily="34" charset="-120"/>
              </a:rPr>
              <a:t>Jailbreak attempt</a:t>
            </a:r>
            <a:endParaRPr lang="en-US" sz="1000" dirty="0"/>
          </a:p>
        </p:txBody>
      </p:sp>
      <p:sp>
        <p:nvSpPr>
          <p:cNvPr id="39" name="Text 37"/>
          <p:cNvSpPr txBox="1"/>
          <p:nvPr/>
        </p:nvSpPr>
        <p:spPr>
          <a:xfrm>
            <a:off x="8321040" y="4800600"/>
            <a:ext cx="457200" cy="228600"/>
          </a:xfrm>
          <a:prstGeom prst="rect">
            <a:avLst/>
          </a:prstGeom>
          <a:noFill/>
          <a:ln/>
        </p:spPr>
        <p:txBody>
          <a:bodyPr wrap="square" lIns="0" tIns="0" rIns="0" bIns="0" rtlCol="0" anchor="ctr"/>
          <a:lstStyle/>
          <a:p>
            <a:pPr algn="r" indent="0" marL="0">
              <a:buNone/>
            </a:pPr>
            <a:r>
              <a:rPr lang="en-US" sz="900" dirty="0">
                <a:solidFill>
                  <a:srgbClr val="5B6B75"/>
                </a:solidFill>
                <a:latin typeface="Calibri" pitchFamily="34" charset="0"/>
                <a:ea typeface="Calibri" pitchFamily="34" charset="-122"/>
                <a:cs typeface="Calibri"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2A3C"/>
        </a:solidFill>
      </p:bgPr>
    </p:bg>
    <p:spTree>
      <p:nvGrpSpPr>
        <p:cNvPr id="1" name=""/>
        <p:cNvGrpSpPr/>
        <p:nvPr/>
      </p:nvGrpSpPr>
      <p:grpSpPr>
        <a:xfrm>
          <a:off x="0" y="0"/>
          <a:ext cx="0" cy="0"/>
          <a:chOff x="0" y="0"/>
          <a:chExt cx="0" cy="0"/>
        </a:xfrm>
      </p:grpSpPr>
      <p:sp>
        <p:nvSpPr>
          <p:cNvPr id="2" name="Shape 0"/>
          <p:cNvSpPr/>
          <p:nvPr/>
        </p:nvSpPr>
        <p:spPr>
          <a:xfrm>
            <a:off x="4206240" y="365760"/>
            <a:ext cx="731520" cy="731520"/>
          </a:xfrm>
          <a:prstGeom prst="ellipse">
            <a:avLst/>
          </a:prstGeom>
          <a:solidFill>
            <a:srgbClr val="137C86"/>
          </a:solidFill>
          <a:ln w="12700">
            <a:solidFill>
              <a:srgbClr val="137C86"/>
            </a:solidFill>
            <a:prstDash val="solid"/>
          </a:ln>
        </p:spPr>
      </p:sp>
      <p:pic>
        <p:nvPicPr>
          <p:cNvPr id="3" name="Image 0" descr="preencoded.png">    </p:cNvPr>
          <p:cNvPicPr>
            <a:picLocks noChangeAspect="1"/>
          </p:cNvPicPr>
          <p:nvPr/>
        </p:nvPicPr>
        <p:blipFill>
          <a:blip r:embed="rId1"/>
          <a:stretch>
            <a:fillRect/>
          </a:stretch>
        </p:blipFill>
        <p:spPr>
          <a:xfrm>
            <a:off x="4389120" y="548640"/>
            <a:ext cx="365760" cy="365760"/>
          </a:xfrm>
          <a:prstGeom prst="rect">
            <a:avLst/>
          </a:prstGeom>
        </p:spPr>
      </p:pic>
      <p:sp>
        <p:nvSpPr>
          <p:cNvPr id="4" name="Text 1"/>
          <p:cNvSpPr txBox="1"/>
          <p:nvPr/>
        </p:nvSpPr>
        <p:spPr>
          <a:xfrm>
            <a:off x="914400" y="1188720"/>
            <a:ext cx="7315200" cy="640080"/>
          </a:xfrm>
          <a:prstGeom prst="rect">
            <a:avLst/>
          </a:prstGeom>
          <a:noFill/>
          <a:ln/>
        </p:spPr>
        <p:txBody>
          <a:bodyPr wrap="square"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Questions?</a:t>
            </a:r>
            <a:endParaRPr lang="en-US" sz="4000" dirty="0"/>
          </a:p>
        </p:txBody>
      </p:sp>
      <p:sp>
        <p:nvSpPr>
          <p:cNvPr id="5" name="Text 2"/>
          <p:cNvSpPr txBox="1"/>
          <p:nvPr/>
        </p:nvSpPr>
        <p:spPr>
          <a:xfrm>
            <a:off x="914400" y="1828800"/>
            <a:ext cx="7315200" cy="365760"/>
          </a:xfrm>
          <a:prstGeom prst="rect">
            <a:avLst/>
          </a:prstGeom>
          <a:noFill/>
          <a:ln/>
        </p:spPr>
        <p:txBody>
          <a:bodyPr wrap="square" rtlCol="0" anchor="ctr"/>
          <a:lstStyle/>
          <a:p>
            <a:pPr algn="ctr" indent="0" marL="0">
              <a:buNone/>
            </a:pPr>
            <a:r>
              <a:rPr lang="en-US" sz="1400" dirty="0">
                <a:solidFill>
                  <a:srgbClr val="C9D6DD"/>
                </a:solidFill>
                <a:latin typeface="Calibri" pitchFamily="34" charset="0"/>
                <a:ea typeface="Calibri" pitchFamily="34" charset="-122"/>
                <a:cs typeface="Calibri" pitchFamily="34" charset="-120"/>
              </a:rPr>
              <a:t>Tabeeby is now smarter, connectable, dependable — and measurable.</a:t>
            </a:r>
            <a:endParaRPr lang="en-US" sz="1400" dirty="0"/>
          </a:p>
        </p:txBody>
      </p:sp>
      <p:sp>
        <p:nvSpPr>
          <p:cNvPr id="6" name="Shape 3"/>
          <p:cNvSpPr/>
          <p:nvPr/>
        </p:nvSpPr>
        <p:spPr>
          <a:xfrm>
            <a:off x="640080" y="2606040"/>
            <a:ext cx="1828800" cy="1417320"/>
          </a:xfrm>
          <a:prstGeom prst="roundRect">
            <a:avLst>
              <a:gd name="adj" fmla="val 5161"/>
            </a:avLst>
          </a:prstGeom>
          <a:solidFill>
            <a:srgbClr val="123A50"/>
          </a:solidFill>
          <a:ln w="12700">
            <a:solidFill>
              <a:srgbClr val="123A50"/>
            </a:solidFill>
            <a:prstDash val="solid"/>
          </a:ln>
        </p:spPr>
      </p:sp>
      <p:sp>
        <p:nvSpPr>
          <p:cNvPr id="7" name="Shape 4"/>
          <p:cNvSpPr/>
          <p:nvPr/>
        </p:nvSpPr>
        <p:spPr>
          <a:xfrm>
            <a:off x="1325880" y="2743200"/>
            <a:ext cx="457200" cy="457200"/>
          </a:xfrm>
          <a:prstGeom prst="ellipse">
            <a:avLst/>
          </a:prstGeom>
          <a:solidFill>
            <a:srgbClr val="137C86"/>
          </a:solidFill>
          <a:ln w="12700">
            <a:solidFill>
              <a:srgbClr val="137C86"/>
            </a:solidFill>
            <a:prstDash val="solid"/>
          </a:ln>
        </p:spPr>
      </p:sp>
      <p:pic>
        <p:nvPicPr>
          <p:cNvPr id="8" name="Image 1" descr="preencoded.png">    </p:cNvPr>
          <p:cNvPicPr>
            <a:picLocks noChangeAspect="1"/>
          </p:cNvPicPr>
          <p:nvPr/>
        </p:nvPicPr>
        <p:blipFill>
          <a:blip r:embed="rId2"/>
          <a:stretch>
            <a:fillRect/>
          </a:stretch>
        </p:blipFill>
        <p:spPr>
          <a:xfrm>
            <a:off x="1440180" y="2857500"/>
            <a:ext cx="228600" cy="228600"/>
          </a:xfrm>
          <a:prstGeom prst="rect">
            <a:avLst/>
          </a:prstGeom>
        </p:spPr>
      </p:pic>
      <p:sp>
        <p:nvSpPr>
          <p:cNvPr id="9" name="Text 5"/>
          <p:cNvSpPr txBox="1"/>
          <p:nvPr/>
        </p:nvSpPr>
        <p:spPr>
          <a:xfrm>
            <a:off x="640080" y="3291840"/>
            <a:ext cx="182880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Skills</a:t>
            </a:r>
            <a:endParaRPr lang="en-US" sz="1300" dirty="0"/>
          </a:p>
        </p:txBody>
      </p:sp>
      <p:sp>
        <p:nvSpPr>
          <p:cNvPr id="10" name="Text 6"/>
          <p:cNvSpPr txBox="1"/>
          <p:nvPr/>
        </p:nvSpPr>
        <p:spPr>
          <a:xfrm>
            <a:off x="640080" y="3584448"/>
            <a:ext cx="1828800" cy="274320"/>
          </a:xfrm>
          <a:prstGeom prst="rect">
            <a:avLst/>
          </a:prstGeom>
          <a:noFill/>
          <a:ln/>
        </p:spPr>
        <p:txBody>
          <a:bodyPr wrap="square" lIns="0" tIns="0" rIns="0" bIns="0" rtlCol="0" anchor="ctr"/>
          <a:lstStyle/>
          <a:p>
            <a:pPr algn="ctr" indent="0" marL="0">
              <a:buNone/>
            </a:pPr>
            <a:r>
              <a:rPr lang="en-US" sz="1100" dirty="0">
                <a:solidFill>
                  <a:srgbClr val="1BBF9C"/>
                </a:solidFill>
                <a:latin typeface="Calibri" pitchFamily="34" charset="0"/>
                <a:ea typeface="Calibri" pitchFamily="34" charset="-122"/>
                <a:cs typeface="Calibri" pitchFamily="34" charset="-120"/>
              </a:rPr>
              <a:t>Expertise on demand</a:t>
            </a:r>
            <a:endParaRPr lang="en-US" sz="1100" dirty="0"/>
          </a:p>
        </p:txBody>
      </p:sp>
      <p:sp>
        <p:nvSpPr>
          <p:cNvPr id="11" name="Shape 7"/>
          <p:cNvSpPr/>
          <p:nvPr/>
        </p:nvSpPr>
        <p:spPr>
          <a:xfrm>
            <a:off x="2651760" y="2606040"/>
            <a:ext cx="1828800" cy="1417320"/>
          </a:xfrm>
          <a:prstGeom prst="roundRect">
            <a:avLst>
              <a:gd name="adj" fmla="val 5161"/>
            </a:avLst>
          </a:prstGeom>
          <a:solidFill>
            <a:srgbClr val="123A50"/>
          </a:solidFill>
          <a:ln w="12700">
            <a:solidFill>
              <a:srgbClr val="123A50"/>
            </a:solidFill>
            <a:prstDash val="solid"/>
          </a:ln>
        </p:spPr>
      </p:sp>
      <p:sp>
        <p:nvSpPr>
          <p:cNvPr id="12" name="Shape 8"/>
          <p:cNvSpPr/>
          <p:nvPr/>
        </p:nvSpPr>
        <p:spPr>
          <a:xfrm>
            <a:off x="3337560" y="2743200"/>
            <a:ext cx="457200" cy="457200"/>
          </a:xfrm>
          <a:prstGeom prst="ellipse">
            <a:avLst/>
          </a:prstGeom>
          <a:solidFill>
            <a:srgbClr val="137C86"/>
          </a:solidFill>
          <a:ln w="12700">
            <a:solidFill>
              <a:srgbClr val="137C86"/>
            </a:solidFill>
            <a:prstDash val="solid"/>
          </a:ln>
        </p:spPr>
      </p:sp>
      <p:pic>
        <p:nvPicPr>
          <p:cNvPr id="13" name="Image 2" descr="preencoded.png">    </p:cNvPr>
          <p:cNvPicPr>
            <a:picLocks noChangeAspect="1"/>
          </p:cNvPicPr>
          <p:nvPr/>
        </p:nvPicPr>
        <p:blipFill>
          <a:blip r:embed="rId3"/>
          <a:stretch>
            <a:fillRect/>
          </a:stretch>
        </p:blipFill>
        <p:spPr>
          <a:xfrm>
            <a:off x="3451860" y="2857500"/>
            <a:ext cx="228600" cy="228600"/>
          </a:xfrm>
          <a:prstGeom prst="rect">
            <a:avLst/>
          </a:prstGeom>
        </p:spPr>
      </p:pic>
      <p:sp>
        <p:nvSpPr>
          <p:cNvPr id="14" name="Text 9"/>
          <p:cNvSpPr txBox="1"/>
          <p:nvPr/>
        </p:nvSpPr>
        <p:spPr>
          <a:xfrm>
            <a:off x="2651760" y="3291840"/>
            <a:ext cx="182880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MCP</a:t>
            </a:r>
            <a:endParaRPr lang="en-US" sz="1300" dirty="0"/>
          </a:p>
        </p:txBody>
      </p:sp>
      <p:sp>
        <p:nvSpPr>
          <p:cNvPr id="15" name="Text 10"/>
          <p:cNvSpPr txBox="1"/>
          <p:nvPr/>
        </p:nvSpPr>
        <p:spPr>
          <a:xfrm>
            <a:off x="2651760" y="3584448"/>
            <a:ext cx="1828800" cy="274320"/>
          </a:xfrm>
          <a:prstGeom prst="rect">
            <a:avLst/>
          </a:prstGeom>
          <a:noFill/>
          <a:ln/>
        </p:spPr>
        <p:txBody>
          <a:bodyPr wrap="square" lIns="0" tIns="0" rIns="0" bIns="0" rtlCol="0" anchor="ctr"/>
          <a:lstStyle/>
          <a:p>
            <a:pPr algn="ctr" indent="0" marL="0">
              <a:buNone/>
            </a:pPr>
            <a:r>
              <a:rPr lang="en-US" sz="1100" dirty="0">
                <a:solidFill>
                  <a:srgbClr val="1BBF9C"/>
                </a:solidFill>
                <a:latin typeface="Calibri" pitchFamily="34" charset="0"/>
                <a:ea typeface="Calibri" pitchFamily="34" charset="-122"/>
                <a:cs typeface="Calibri" pitchFamily="34" charset="-120"/>
              </a:rPr>
              <a:t>Works with any AI app</a:t>
            </a:r>
            <a:endParaRPr lang="en-US" sz="1100" dirty="0"/>
          </a:p>
        </p:txBody>
      </p:sp>
      <p:sp>
        <p:nvSpPr>
          <p:cNvPr id="16" name="Shape 11"/>
          <p:cNvSpPr/>
          <p:nvPr/>
        </p:nvSpPr>
        <p:spPr>
          <a:xfrm>
            <a:off x="4663440" y="2606040"/>
            <a:ext cx="1828800" cy="1417320"/>
          </a:xfrm>
          <a:prstGeom prst="roundRect">
            <a:avLst>
              <a:gd name="adj" fmla="val 5161"/>
            </a:avLst>
          </a:prstGeom>
          <a:solidFill>
            <a:srgbClr val="123A50"/>
          </a:solidFill>
          <a:ln w="12700">
            <a:solidFill>
              <a:srgbClr val="123A50"/>
            </a:solidFill>
            <a:prstDash val="solid"/>
          </a:ln>
        </p:spPr>
      </p:sp>
      <p:sp>
        <p:nvSpPr>
          <p:cNvPr id="17" name="Shape 12"/>
          <p:cNvSpPr/>
          <p:nvPr/>
        </p:nvSpPr>
        <p:spPr>
          <a:xfrm>
            <a:off x="5349240" y="2743200"/>
            <a:ext cx="457200" cy="457200"/>
          </a:xfrm>
          <a:prstGeom prst="ellipse">
            <a:avLst/>
          </a:prstGeom>
          <a:solidFill>
            <a:srgbClr val="137C86"/>
          </a:solidFill>
          <a:ln w="12700">
            <a:solidFill>
              <a:srgbClr val="137C86"/>
            </a:solidFill>
            <a:prstDash val="solid"/>
          </a:ln>
        </p:spPr>
      </p:sp>
      <p:pic>
        <p:nvPicPr>
          <p:cNvPr id="18" name="Image 3" descr="preencoded.png">    </p:cNvPr>
          <p:cNvPicPr>
            <a:picLocks noChangeAspect="1"/>
          </p:cNvPicPr>
          <p:nvPr/>
        </p:nvPicPr>
        <p:blipFill>
          <a:blip r:embed="rId4"/>
          <a:stretch>
            <a:fillRect/>
          </a:stretch>
        </p:blipFill>
        <p:spPr>
          <a:xfrm>
            <a:off x="5463540" y="2857500"/>
            <a:ext cx="228600" cy="228600"/>
          </a:xfrm>
          <a:prstGeom prst="rect">
            <a:avLst/>
          </a:prstGeom>
        </p:spPr>
      </p:pic>
      <p:sp>
        <p:nvSpPr>
          <p:cNvPr id="19" name="Text 13"/>
          <p:cNvSpPr txBox="1"/>
          <p:nvPr/>
        </p:nvSpPr>
        <p:spPr>
          <a:xfrm>
            <a:off x="4663440" y="3291840"/>
            <a:ext cx="182880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Reliable Loop</a:t>
            </a:r>
            <a:endParaRPr lang="en-US" sz="1300" dirty="0"/>
          </a:p>
        </p:txBody>
      </p:sp>
      <p:sp>
        <p:nvSpPr>
          <p:cNvPr id="20" name="Text 14"/>
          <p:cNvSpPr txBox="1"/>
          <p:nvPr/>
        </p:nvSpPr>
        <p:spPr>
          <a:xfrm>
            <a:off x="4663440" y="3584448"/>
            <a:ext cx="1828800" cy="274320"/>
          </a:xfrm>
          <a:prstGeom prst="rect">
            <a:avLst/>
          </a:prstGeom>
          <a:noFill/>
          <a:ln/>
        </p:spPr>
        <p:txBody>
          <a:bodyPr wrap="square" lIns="0" tIns="0" rIns="0" bIns="0" rtlCol="0" anchor="ctr"/>
          <a:lstStyle/>
          <a:p>
            <a:pPr algn="ctr" indent="0" marL="0">
              <a:buNone/>
            </a:pPr>
            <a:r>
              <a:rPr lang="en-US" sz="1100" dirty="0">
                <a:solidFill>
                  <a:srgbClr val="1BBF9C"/>
                </a:solidFill>
                <a:latin typeface="Calibri" pitchFamily="34" charset="0"/>
                <a:ea typeface="Calibri" pitchFamily="34" charset="-122"/>
                <a:cs typeface="Calibri" pitchFamily="34" charset="-120"/>
              </a:rPr>
              <a:t>Budgeted &amp; self-checked</a:t>
            </a:r>
            <a:endParaRPr lang="en-US" sz="1100" dirty="0"/>
          </a:p>
        </p:txBody>
      </p:sp>
      <p:sp>
        <p:nvSpPr>
          <p:cNvPr id="21" name="Shape 15"/>
          <p:cNvSpPr/>
          <p:nvPr/>
        </p:nvSpPr>
        <p:spPr>
          <a:xfrm>
            <a:off x="6675120" y="2606040"/>
            <a:ext cx="1828800" cy="1417320"/>
          </a:xfrm>
          <a:prstGeom prst="roundRect">
            <a:avLst>
              <a:gd name="adj" fmla="val 5161"/>
            </a:avLst>
          </a:prstGeom>
          <a:solidFill>
            <a:srgbClr val="123A50"/>
          </a:solidFill>
          <a:ln w="12700">
            <a:solidFill>
              <a:srgbClr val="123A50"/>
            </a:solidFill>
            <a:prstDash val="solid"/>
          </a:ln>
        </p:spPr>
      </p:sp>
      <p:sp>
        <p:nvSpPr>
          <p:cNvPr id="22" name="Shape 16"/>
          <p:cNvSpPr/>
          <p:nvPr/>
        </p:nvSpPr>
        <p:spPr>
          <a:xfrm>
            <a:off x="7360920" y="2743200"/>
            <a:ext cx="457200" cy="457200"/>
          </a:xfrm>
          <a:prstGeom prst="ellipse">
            <a:avLst/>
          </a:prstGeom>
          <a:solidFill>
            <a:srgbClr val="137C86"/>
          </a:solidFill>
          <a:ln w="12700">
            <a:solidFill>
              <a:srgbClr val="137C86"/>
            </a:solidFill>
            <a:prstDash val="solid"/>
          </a:ln>
        </p:spPr>
      </p:sp>
      <p:pic>
        <p:nvPicPr>
          <p:cNvPr id="23" name="Image 4" descr="preencoded.png">    </p:cNvPr>
          <p:cNvPicPr>
            <a:picLocks noChangeAspect="1"/>
          </p:cNvPicPr>
          <p:nvPr/>
        </p:nvPicPr>
        <p:blipFill>
          <a:blip r:embed="rId5"/>
          <a:stretch>
            <a:fillRect/>
          </a:stretch>
        </p:blipFill>
        <p:spPr>
          <a:xfrm>
            <a:off x="7475220" y="2857500"/>
            <a:ext cx="228600" cy="228600"/>
          </a:xfrm>
          <a:prstGeom prst="rect">
            <a:avLst/>
          </a:prstGeom>
        </p:spPr>
      </p:pic>
      <p:sp>
        <p:nvSpPr>
          <p:cNvPr id="24" name="Text 17"/>
          <p:cNvSpPr txBox="1"/>
          <p:nvPr/>
        </p:nvSpPr>
        <p:spPr>
          <a:xfrm>
            <a:off x="6675120" y="3291840"/>
            <a:ext cx="182880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Evaluation</a:t>
            </a:r>
            <a:endParaRPr lang="en-US" sz="1300" dirty="0"/>
          </a:p>
        </p:txBody>
      </p:sp>
      <p:sp>
        <p:nvSpPr>
          <p:cNvPr id="25" name="Text 18"/>
          <p:cNvSpPr txBox="1"/>
          <p:nvPr/>
        </p:nvSpPr>
        <p:spPr>
          <a:xfrm>
            <a:off x="6675120" y="3584448"/>
            <a:ext cx="1828800" cy="274320"/>
          </a:xfrm>
          <a:prstGeom prst="rect">
            <a:avLst/>
          </a:prstGeom>
          <a:noFill/>
          <a:ln/>
        </p:spPr>
        <p:txBody>
          <a:bodyPr wrap="square" lIns="0" tIns="0" rIns="0" bIns="0" rtlCol="0" anchor="ctr"/>
          <a:lstStyle/>
          <a:p>
            <a:pPr algn="ctr" indent="0" marL="0">
              <a:buNone/>
            </a:pPr>
            <a:r>
              <a:rPr lang="en-US" sz="1100" dirty="0">
                <a:solidFill>
                  <a:srgbClr val="1BBF9C"/>
                </a:solidFill>
                <a:latin typeface="Calibri" pitchFamily="34" charset="0"/>
                <a:ea typeface="Calibri" pitchFamily="34" charset="-122"/>
                <a:cs typeface="Calibri" pitchFamily="34" charset="-120"/>
              </a:rPr>
              <a:t>Proven by tests</a:t>
            </a:r>
            <a:endParaRPr lang="en-US" sz="1100" dirty="0"/>
          </a:p>
        </p:txBody>
      </p:sp>
      <p:sp>
        <p:nvSpPr>
          <p:cNvPr id="26" name="Text 19"/>
          <p:cNvSpPr txBox="1"/>
          <p:nvPr/>
        </p:nvSpPr>
        <p:spPr>
          <a:xfrm>
            <a:off x="914400" y="4434840"/>
            <a:ext cx="7315200" cy="274320"/>
          </a:xfrm>
          <a:prstGeom prst="rect">
            <a:avLst/>
          </a:prstGeom>
          <a:noFill/>
          <a:ln/>
        </p:spPr>
        <p:txBody>
          <a:bodyPr wrap="square" rtlCol="0" anchor="ctr"/>
          <a:lstStyle/>
          <a:p>
            <a:pPr algn="ctr" indent="0" marL="0">
              <a:buNone/>
            </a:pPr>
            <a:r>
              <a:rPr lang="en-US" sz="1000" dirty="0">
                <a:solidFill>
                  <a:srgbClr val="8FA3AE"/>
                </a:solidFill>
                <a:latin typeface="Calibri" pitchFamily="34" charset="0"/>
                <a:ea typeface="Calibri" pitchFamily="34" charset="-122"/>
                <a:cs typeface="Calibri" pitchFamily="34" charset="-120"/>
              </a:rPr>
              <a:t>Amr Ahmed Walid  ·  Thank you for your time</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Tabeeby — What I Added</dc:title>
  <dc:subject>PptxGenJS Presentation</dc:subject>
  <dc:creator>PptxGenJS</dc:creator>
  <cp:lastModifiedBy>PptxGenJS</cp:lastModifiedBy>
  <cp:revision>1</cp:revision>
  <dcterms:created xsi:type="dcterms:W3CDTF">2026-10-01T17:20:14Z</dcterms:created>
  <dcterms:modified xsi:type="dcterms:W3CDTF">2026-10-01T17:20:14Z</dcterms:modified>
</cp:coreProperties>
</file>